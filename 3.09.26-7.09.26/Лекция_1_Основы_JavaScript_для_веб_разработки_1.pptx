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2280" y="1143000"/>
            <a:ext cx="4892041" cy="2743200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0"/>
          <p:cNvSpPr txBox="1"/>
          <p:nvPr/>
        </p:nvSpPr>
        <p:spPr>
          <a:xfrm>
            <a:off x="685800" y="697738"/>
            <a:ext cx="3657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ACC15"/>
                </a:solidFill>
              </a:defRPr>
            </a:lvl1pPr>
          </a:lstStyle>
          <a:p>
            <a:pPr/>
            <a:r>
              <a:t>Лекция 1</a:t>
            </a:r>
          </a:p>
        </p:txBody>
      </p:sp>
      <p:sp>
        <p:nvSpPr>
          <p:cNvPr id="22" name="Text 1"/>
          <p:cNvSpPr txBox="1"/>
          <p:nvPr/>
        </p:nvSpPr>
        <p:spPr>
          <a:xfrm>
            <a:off x="685799" y="1133855"/>
            <a:ext cx="5806442" cy="1417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b="1" sz="4200">
                <a:solidFill>
                  <a:srgbClr val="F8FAFC"/>
                </a:solidFill>
              </a:defRPr>
            </a:pPr>
            <a:r>
              <a:t>Основы JavaScript</a:t>
            </a:r>
          </a:p>
          <a:p>
            <a:pPr>
              <a:defRPr b="1" sz="4200">
                <a:solidFill>
                  <a:srgbClr val="F8FAFC"/>
                </a:solidFill>
              </a:defRPr>
            </a:pPr>
            <a:r>
              <a:t>для веб-разработки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731520" y="2921507"/>
            <a:ext cx="5440680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E6F1FF"/>
                </a:solidFill>
              </a:defRPr>
            </a:lvl1pPr>
          </a:lstStyle>
          <a:p>
            <a:pPr/>
            <a:r>
              <a:t>Синтаксис, типы, выражения, операторы, объекты, массивы и функции</a:t>
            </a:r>
          </a:p>
        </p:txBody>
      </p:sp>
      <p:sp>
        <p:nvSpPr>
          <p:cNvPr id="24" name="Text 3"/>
          <p:cNvSpPr txBox="1"/>
          <p:nvPr/>
        </p:nvSpPr>
        <p:spPr>
          <a:xfrm>
            <a:off x="731519" y="6166357"/>
            <a:ext cx="5486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7B4C8"/>
                </a:solidFill>
              </a:defRPr>
            </a:lvl1pPr>
          </a:lstStyle>
          <a:p>
            <a:pPr/>
            <a:r>
              <a:t>Храмов Дмитрий Эдуардович</a:t>
            </a:r>
          </a:p>
        </p:txBody>
      </p:sp>
      <p:sp>
        <p:nvSpPr>
          <p:cNvPr id="25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6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Разработка пользовательских интерфейсов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Зачем эта лекция?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JavaScript — язык поведения веб-интерфейса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Перед DOM и браузером нужно понять основу языка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Синтаксис, типы и функции влияют на качество UI-кода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Объекты и массивы — база работы с данными интерфейса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Методика курса</a:t>
            </a:r>
          </a:p>
        </p:txBody>
      </p:sp>
      <p:sp>
        <p:nvSpPr>
          <p:cNvPr id="35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Объединяем две вводные темы</a:t>
            </a:r>
          </a:p>
        </p:txBody>
      </p:sp>
      <p:sp>
        <p:nvSpPr>
          <p:cNvPr id="36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Лекция дает целостную карту языка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Подробности объектов, массивов и функций закрепляются на практике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Классы, модули и асинхронность — следующий уровень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Сегодня главное: уверенно читать и писать базовый код</a:t>
            </a:r>
          </a:p>
        </p:txBody>
      </p:sp>
      <p:sp>
        <p:nvSpPr>
          <p:cNvPr id="37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Результат занятия</a:t>
            </a:r>
          </a:p>
        </p:txBody>
      </p:sp>
      <p:sp>
        <p:nvSpPr>
          <p:cNvPr id="41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Что студент должен унести</a:t>
            </a:r>
          </a:p>
        </p:txBody>
      </p:sp>
      <p:sp>
        <p:nvSpPr>
          <p:cNvPr id="42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Как читается программа на JavaScript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Почему числа и строки ведут себя не всегда очевидно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Как управлять потоком выполнения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Как данные собираются в объекты, массивы и функции</a:t>
            </a:r>
          </a:p>
        </p:txBody>
      </p:sp>
      <p:sp>
        <p:nvSpPr>
          <p:cNvPr id="43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4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4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49808">
              <a:defRPr b="1" sz="2788">
                <a:solidFill>
                  <a:srgbClr val="F8FAFC"/>
                </a:solidFill>
              </a:defRPr>
            </a:lvl1pPr>
          </a:lstStyle>
          <a:p>
            <a:pPr/>
            <a:r>
              <a:t>Часть I. JavaScript в веб-разработке</a:t>
            </a:r>
          </a:p>
        </p:txBody>
      </p:sp>
      <p:sp>
        <p:nvSpPr>
          <p:cNvPr id="49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Почему язык интерфейсов стал языком приложений</a:t>
            </a:r>
          </a:p>
        </p:txBody>
      </p:sp>
      <p:sp>
        <p:nvSpPr>
          <p:cNvPr id="50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2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2280" y="1143000"/>
            <a:ext cx="4892041" cy="2743200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56" name="Text 1"/>
          <p:cNvSpPr txBox="1"/>
          <p:nvPr/>
        </p:nvSpPr>
        <p:spPr>
          <a:xfrm>
            <a:off x="685799" y="713231"/>
            <a:ext cx="55778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86384">
              <a:defRPr b="1" sz="2666">
                <a:solidFill>
                  <a:srgbClr val="F8FAFC"/>
                </a:solidFill>
              </a:defRPr>
            </a:lvl1pPr>
          </a:lstStyle>
          <a:p>
            <a:pPr/>
            <a:r>
              <a:t>JavaScript начинался в браузере</a:t>
            </a:r>
          </a:p>
        </p:txBody>
      </p:sp>
      <p:sp>
        <p:nvSpPr>
          <p:cNvPr id="57" name="Text 2"/>
          <p:cNvSpPr txBox="1"/>
          <p:nvPr/>
        </p:nvSpPr>
        <p:spPr>
          <a:xfrm>
            <a:off x="822960" y="1828799"/>
            <a:ext cx="521208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Оживление HTML-страниц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Обработка действий пользователя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Проверка форм до отправки на сервер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Динамическое изменение страницы</a:t>
            </a:r>
          </a:p>
        </p:txBody>
      </p:sp>
      <p:sp>
        <p:nvSpPr>
          <p:cNvPr id="5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2280" y="1143000"/>
            <a:ext cx="4892041" cy="274320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3" name="Text 1"/>
          <p:cNvSpPr txBox="1"/>
          <p:nvPr/>
        </p:nvSpPr>
        <p:spPr>
          <a:xfrm>
            <a:off x="685799" y="713231"/>
            <a:ext cx="55778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49808">
              <a:defRPr b="1" sz="2542">
                <a:solidFill>
                  <a:srgbClr val="F8FAFC"/>
                </a:solidFill>
              </a:defRPr>
            </a:lvl1pPr>
          </a:lstStyle>
          <a:p>
            <a:pPr/>
            <a:r>
              <a:t>Сегодня JavaScript шире браузера</a:t>
            </a:r>
          </a:p>
        </p:txBody>
      </p:sp>
      <p:sp>
        <p:nvSpPr>
          <p:cNvPr id="64" name="Text 2"/>
          <p:cNvSpPr txBox="1"/>
          <p:nvPr/>
        </p:nvSpPr>
        <p:spPr>
          <a:xfrm>
            <a:off x="822960" y="1828799"/>
            <a:ext cx="521208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Клиентская логика веб-приложений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Серверная разработка через Node.js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Инструменты сборки и тестирования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Фреймворки и библиотеки интерфейсов</a:t>
            </a:r>
          </a:p>
        </p:txBody>
      </p:sp>
      <p:sp>
        <p:nvSpPr>
          <p:cNvPr id="65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6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Среда выполнения</a:t>
            </a:r>
          </a:p>
        </p:txBody>
      </p:sp>
      <p:sp>
        <p:nvSpPr>
          <p:cNvPr id="69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Где выполняется JavaScript?</a:t>
            </a:r>
          </a:p>
        </p:txBody>
      </p:sp>
      <p:sp>
        <p:nvSpPr>
          <p:cNvPr id="70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 браузере: Chrome, Firefox, Safari, Edge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На сервере: Node.js и совместимые среды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 инструментах разработки: сборщики, тесты, CLI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Встроенно: приложения, расширения, автоматизация</a:t>
            </a:r>
          </a:p>
        </p:txBody>
      </p:sp>
      <p:sp>
        <p:nvSpPr>
          <p:cNvPr id="71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2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схема</a:t>
            </a:r>
          </a:p>
        </p:txBody>
      </p:sp>
      <p:sp>
        <p:nvSpPr>
          <p:cNvPr id="75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Путь JavaScript-кода в вебе</a:t>
            </a:r>
          </a:p>
        </p:txBody>
      </p:sp>
      <p:sp>
        <p:nvSpPr>
          <p:cNvPr id="76" name="Shape 2"/>
          <p:cNvSpPr/>
          <p:nvPr/>
        </p:nvSpPr>
        <p:spPr>
          <a:xfrm>
            <a:off x="694944" y="2743200"/>
            <a:ext cx="1909268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3"/>
          <p:cNvSpPr txBox="1"/>
          <p:nvPr/>
        </p:nvSpPr>
        <p:spPr>
          <a:xfrm>
            <a:off x="768096" y="2944367"/>
            <a:ext cx="1762962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HTML</a:t>
            </a:r>
          </a:p>
        </p:txBody>
      </p:sp>
      <p:sp>
        <p:nvSpPr>
          <p:cNvPr id="78" name="Shape 4"/>
          <p:cNvSpPr/>
          <p:nvPr/>
        </p:nvSpPr>
        <p:spPr>
          <a:xfrm>
            <a:off x="2640787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5"/>
          <p:cNvSpPr/>
          <p:nvPr/>
        </p:nvSpPr>
        <p:spPr>
          <a:xfrm>
            <a:off x="2915106" y="2743200"/>
            <a:ext cx="1909268" cy="822961"/>
          </a:xfrm>
          <a:prstGeom prst="roundRect">
            <a:avLst>
              <a:gd name="adj" fmla="val 8889"/>
            </a:avLst>
          </a:prstGeom>
          <a:solidFill>
            <a:srgbClr val="111936"/>
          </a:solidFill>
          <a:ln w="12700">
            <a:solidFill>
              <a:srgbClr val="22D3EE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" name="Text 6"/>
          <p:cNvSpPr txBox="1"/>
          <p:nvPr/>
        </p:nvSpPr>
        <p:spPr>
          <a:xfrm>
            <a:off x="2988259" y="2944367"/>
            <a:ext cx="1762963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&lt;script&gt;</a:t>
            </a:r>
          </a:p>
        </p:txBody>
      </p:sp>
      <p:sp>
        <p:nvSpPr>
          <p:cNvPr id="81" name="Shape 7"/>
          <p:cNvSpPr/>
          <p:nvPr/>
        </p:nvSpPr>
        <p:spPr>
          <a:xfrm>
            <a:off x="4860950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Shape 8"/>
          <p:cNvSpPr/>
          <p:nvPr/>
        </p:nvSpPr>
        <p:spPr>
          <a:xfrm>
            <a:off x="5135269" y="2743200"/>
            <a:ext cx="1909268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Text 9"/>
          <p:cNvSpPr txBox="1"/>
          <p:nvPr/>
        </p:nvSpPr>
        <p:spPr>
          <a:xfrm>
            <a:off x="5208422" y="2944367"/>
            <a:ext cx="1762962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JS engine</a:t>
            </a:r>
          </a:p>
        </p:txBody>
      </p:sp>
      <p:sp>
        <p:nvSpPr>
          <p:cNvPr id="84" name="Shape 10"/>
          <p:cNvSpPr/>
          <p:nvPr/>
        </p:nvSpPr>
        <p:spPr>
          <a:xfrm>
            <a:off x="7081114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Shape 11"/>
          <p:cNvSpPr/>
          <p:nvPr/>
        </p:nvSpPr>
        <p:spPr>
          <a:xfrm>
            <a:off x="7355433" y="2743200"/>
            <a:ext cx="1909268" cy="822961"/>
          </a:xfrm>
          <a:prstGeom prst="roundRect">
            <a:avLst>
              <a:gd name="adj" fmla="val 8889"/>
            </a:avLst>
          </a:prstGeom>
          <a:solidFill>
            <a:srgbClr val="111936"/>
          </a:solidFill>
          <a:ln w="12700">
            <a:solidFill>
              <a:srgbClr val="22D3EE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12"/>
          <p:cNvSpPr txBox="1"/>
          <p:nvPr/>
        </p:nvSpPr>
        <p:spPr>
          <a:xfrm>
            <a:off x="7428586" y="2944367"/>
            <a:ext cx="1762963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DOM/API</a:t>
            </a:r>
          </a:p>
        </p:txBody>
      </p:sp>
      <p:sp>
        <p:nvSpPr>
          <p:cNvPr id="87" name="Shape 13"/>
          <p:cNvSpPr/>
          <p:nvPr/>
        </p:nvSpPr>
        <p:spPr>
          <a:xfrm>
            <a:off x="9301277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4"/>
          <p:cNvSpPr/>
          <p:nvPr/>
        </p:nvSpPr>
        <p:spPr>
          <a:xfrm>
            <a:off x="9575596" y="2743200"/>
            <a:ext cx="1909268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5"/>
          <p:cNvSpPr txBox="1"/>
          <p:nvPr/>
        </p:nvSpPr>
        <p:spPr>
          <a:xfrm>
            <a:off x="9648749" y="2944367"/>
            <a:ext cx="1762963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UI response</a:t>
            </a:r>
          </a:p>
        </p:txBody>
      </p:sp>
      <p:sp>
        <p:nvSpPr>
          <p:cNvPr id="90" name="Text 16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91" name="Text 17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Термины</a:t>
            </a:r>
          </a:p>
        </p:txBody>
      </p:sp>
      <p:sp>
        <p:nvSpPr>
          <p:cNvPr id="9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ECMAScript и JavaScript</a:t>
            </a:r>
          </a:p>
        </p:txBody>
      </p:sp>
      <p:sp>
        <p:nvSpPr>
          <p:cNvPr id="9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ECMAScript — стандарт языка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JavaScript — практическая реализация в средах выполнения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Браузер добавляет Web API: DOM, события, fetch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Node.js добавляет свои API: файлы, процесс, серверы</a:t>
            </a:r>
          </a:p>
        </p:txBody>
      </p:sp>
      <p:sp>
        <p:nvSpPr>
          <p:cNvPr id="9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9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Практическая причина</a:t>
            </a:r>
          </a:p>
        </p:txBody>
      </p:sp>
      <p:sp>
        <p:nvSpPr>
          <p:cNvPr id="10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Почему важно начать с основ языка</a:t>
            </a:r>
          </a:p>
        </p:txBody>
      </p:sp>
      <p:sp>
        <p:nvSpPr>
          <p:cNvPr id="10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Ошибки типов проявляются в интерфейсе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Неправильное сравнение ломает логику форм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Неверная работа с массивами портит данные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Слабая структура функций усложняет сопровождение</a:t>
            </a:r>
          </a:p>
        </p:txBody>
      </p:sp>
      <p:sp>
        <p:nvSpPr>
          <p:cNvPr id="10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0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10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400">
                <a:solidFill>
                  <a:srgbClr val="F8FAFC"/>
                </a:solidFill>
              </a:defRPr>
            </a:lvl1pPr>
          </a:lstStyle>
          <a:p>
            <a:pPr/>
            <a:r>
              <a:t>Часть II. Текст программы</a:t>
            </a:r>
          </a:p>
        </p:txBody>
      </p:sp>
      <p:sp>
        <p:nvSpPr>
          <p:cNvPr id="108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Лексическая структура, комментарии, литералы и строгий режим</a:t>
            </a:r>
          </a:p>
        </p:txBody>
      </p:sp>
      <p:sp>
        <p:nvSpPr>
          <p:cNvPr id="109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11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11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Программа как текст</a:t>
            </a:r>
          </a:p>
        </p:txBody>
      </p:sp>
      <p:sp>
        <p:nvSpPr>
          <p:cNvPr id="11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Код состоит из символов, токенов и инструкций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Пробелы и переносы обычно разделяют элементы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Некоторые переносы могут влиять на смысл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Читаемость — часть качества программы</a:t>
            </a:r>
          </a:p>
        </p:txBody>
      </p:sp>
      <p:sp>
        <p:nvSpPr>
          <p:cNvPr id="11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1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сравнение</a:t>
            </a:r>
          </a:p>
        </p:txBody>
      </p:sp>
      <p:sp>
        <p:nvSpPr>
          <p:cNvPr id="12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Что видит человек и движок?</a:t>
            </a:r>
          </a:p>
        </p:txBody>
      </p:sp>
      <p:sp>
        <p:nvSpPr>
          <p:cNvPr id="121" name="Text 2"/>
          <p:cNvSpPr txBox="1"/>
          <p:nvPr/>
        </p:nvSpPr>
        <p:spPr>
          <a:xfrm>
            <a:off x="777239" y="1639824"/>
            <a:ext cx="48463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ACC15"/>
                </a:solidFill>
              </a:defRPr>
            </a:lvl1pPr>
          </a:lstStyle>
          <a:p>
            <a:pPr/>
            <a:r>
              <a:t>Человек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841247" y="2103120"/>
            <a:ext cx="4846322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имена переменных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комментарии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структура блоков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смысловые отступы</a:t>
            </a:r>
          </a:p>
        </p:txBody>
      </p:sp>
      <p:sp>
        <p:nvSpPr>
          <p:cNvPr id="123" name="Text 4"/>
          <p:cNvSpPr txBox="1"/>
          <p:nvPr/>
        </p:nvSpPr>
        <p:spPr>
          <a:xfrm>
            <a:off x="6446520" y="1639824"/>
            <a:ext cx="48463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22D3EE"/>
                </a:solidFill>
              </a:defRPr>
            </a:lvl1pPr>
          </a:lstStyle>
          <a:p>
            <a:pPr/>
            <a:r>
              <a:t>JS engine</a:t>
            </a:r>
          </a:p>
        </p:txBody>
      </p:sp>
      <p:sp>
        <p:nvSpPr>
          <p:cNvPr id="124" name="Text 5"/>
          <p:cNvSpPr txBox="1"/>
          <p:nvPr/>
        </p:nvSpPr>
        <p:spPr>
          <a:xfrm>
            <a:off x="6510528" y="2103120"/>
            <a:ext cx="484632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ключевые слова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литералы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операторы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разделители и блоки</a:t>
            </a:r>
          </a:p>
        </p:txBody>
      </p:sp>
      <p:sp>
        <p:nvSpPr>
          <p:cNvPr id="125" name="Text 6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26" name="Text 7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129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Комментарии</a:t>
            </a:r>
          </a:p>
        </p:txBody>
      </p:sp>
      <p:sp>
        <p:nvSpPr>
          <p:cNvPr id="130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Однострочный комментарий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/*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Многострочный комментарий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*/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total = price * count;</a:t>
            </a:r>
          </a:p>
        </p:txBody>
      </p:sp>
      <p:sp>
        <p:nvSpPr>
          <p:cNvPr id="132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Объясняют намерение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должны пересказывать очевидное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Устаревший комментарий вреднее отсутствия</a:t>
            </a:r>
          </a:p>
        </p:txBody>
      </p:sp>
      <p:sp>
        <p:nvSpPr>
          <p:cNvPr id="133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34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Литералы</a:t>
            </a:r>
          </a:p>
        </p:txBody>
      </p:sp>
      <p:sp>
        <p:nvSpPr>
          <p:cNvPr id="138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Литерал — значение, записанное прямо в коде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Числа: 10, 3.14, 0xff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Строки: "text", 'text', `text`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Объекты и массивы тоже имеют литеральную форму</a:t>
            </a:r>
          </a:p>
        </p:txBody>
      </p:sp>
      <p:sp>
        <p:nvSpPr>
          <p:cNvPr id="139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40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карта понятий</a:t>
            </a:r>
          </a:p>
        </p:txBody>
      </p:sp>
      <p:sp>
        <p:nvSpPr>
          <p:cNvPr id="143" name="Text 1"/>
          <p:cNvSpPr txBox="1"/>
          <p:nvPr/>
        </p:nvSpPr>
        <p:spPr>
          <a:xfrm>
            <a:off x="685799" y="658368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Основные виды литералов</a:t>
            </a:r>
          </a:p>
        </p:txBody>
      </p:sp>
      <p:sp>
        <p:nvSpPr>
          <p:cNvPr id="144" name="Shape 2"/>
          <p:cNvSpPr/>
          <p:nvPr/>
        </p:nvSpPr>
        <p:spPr>
          <a:xfrm>
            <a:off x="777240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FACC15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3"/>
          <p:cNvSpPr txBox="1"/>
          <p:nvPr/>
        </p:nvSpPr>
        <p:spPr>
          <a:xfrm>
            <a:off x="941832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Числовые</a:t>
            </a:r>
          </a:p>
        </p:txBody>
      </p:sp>
      <p:sp>
        <p:nvSpPr>
          <p:cNvPr id="146" name="Text 4"/>
          <p:cNvSpPr txBox="1"/>
          <p:nvPr/>
        </p:nvSpPr>
        <p:spPr>
          <a:xfrm>
            <a:off x="941832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10, 3.14, 0b1010</a:t>
            </a:r>
          </a:p>
        </p:txBody>
      </p:sp>
      <p:sp>
        <p:nvSpPr>
          <p:cNvPr id="147" name="Shape 5"/>
          <p:cNvSpPr/>
          <p:nvPr/>
        </p:nvSpPr>
        <p:spPr>
          <a:xfrm>
            <a:off x="4553711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6"/>
          <p:cNvSpPr txBox="1"/>
          <p:nvPr/>
        </p:nvSpPr>
        <p:spPr>
          <a:xfrm>
            <a:off x="4718303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Строковые</a:t>
            </a:r>
          </a:p>
        </p:txBody>
      </p:sp>
      <p:sp>
        <p:nvSpPr>
          <p:cNvPr id="149" name="Text 7"/>
          <p:cNvSpPr txBox="1"/>
          <p:nvPr/>
        </p:nvSpPr>
        <p:spPr>
          <a:xfrm>
            <a:off x="4718303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"hello", `hello`</a:t>
            </a:r>
          </a:p>
        </p:txBody>
      </p:sp>
      <p:sp>
        <p:nvSpPr>
          <p:cNvPr id="150" name="Shape 8"/>
          <p:cNvSpPr/>
          <p:nvPr/>
        </p:nvSpPr>
        <p:spPr>
          <a:xfrm>
            <a:off x="8330183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14B8A6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9"/>
          <p:cNvSpPr txBox="1"/>
          <p:nvPr/>
        </p:nvSpPr>
        <p:spPr>
          <a:xfrm>
            <a:off x="8494776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Булевские</a:t>
            </a:r>
          </a:p>
        </p:txBody>
      </p:sp>
      <p:sp>
        <p:nvSpPr>
          <p:cNvPr id="152" name="Text 10"/>
          <p:cNvSpPr txBox="1"/>
          <p:nvPr/>
        </p:nvSpPr>
        <p:spPr>
          <a:xfrm>
            <a:off x="8494776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true / false</a:t>
            </a:r>
          </a:p>
        </p:txBody>
      </p:sp>
      <p:sp>
        <p:nvSpPr>
          <p:cNvPr id="153" name="Shape 11"/>
          <p:cNvSpPr/>
          <p:nvPr/>
        </p:nvSpPr>
        <p:spPr>
          <a:xfrm>
            <a:off x="777240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A855F7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2"/>
          <p:cNvSpPr txBox="1"/>
          <p:nvPr/>
        </p:nvSpPr>
        <p:spPr>
          <a:xfrm>
            <a:off x="941832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155" name="Text 13"/>
          <p:cNvSpPr txBox="1"/>
          <p:nvPr/>
        </p:nvSpPr>
        <p:spPr>
          <a:xfrm>
            <a:off x="941832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намеренно пусто</a:t>
            </a:r>
          </a:p>
        </p:txBody>
      </p:sp>
      <p:sp>
        <p:nvSpPr>
          <p:cNvPr id="156" name="Shape 14"/>
          <p:cNvSpPr/>
          <p:nvPr/>
        </p:nvSpPr>
        <p:spPr>
          <a:xfrm>
            <a:off x="4553711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FACC15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5"/>
          <p:cNvSpPr txBox="1"/>
          <p:nvPr/>
        </p:nvSpPr>
        <p:spPr>
          <a:xfrm>
            <a:off x="4718303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Массив</a:t>
            </a:r>
          </a:p>
        </p:txBody>
      </p:sp>
      <p:sp>
        <p:nvSpPr>
          <p:cNvPr id="158" name="Text 16"/>
          <p:cNvSpPr txBox="1"/>
          <p:nvPr/>
        </p:nvSpPr>
        <p:spPr>
          <a:xfrm>
            <a:off x="4718303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[1, 2, 3]</a:t>
            </a:r>
          </a:p>
        </p:txBody>
      </p:sp>
      <p:sp>
        <p:nvSpPr>
          <p:cNvPr id="159" name="Shape 17"/>
          <p:cNvSpPr/>
          <p:nvPr/>
        </p:nvSpPr>
        <p:spPr>
          <a:xfrm>
            <a:off x="8330183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8"/>
          <p:cNvSpPr txBox="1"/>
          <p:nvPr/>
        </p:nvSpPr>
        <p:spPr>
          <a:xfrm>
            <a:off x="8494776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Объект</a:t>
            </a:r>
          </a:p>
        </p:txBody>
      </p:sp>
      <p:sp>
        <p:nvSpPr>
          <p:cNvPr id="161" name="Text 19"/>
          <p:cNvSpPr txBox="1"/>
          <p:nvPr/>
        </p:nvSpPr>
        <p:spPr>
          <a:xfrm>
            <a:off x="8494776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{ name: "Ann" }</a:t>
            </a:r>
          </a:p>
        </p:txBody>
      </p:sp>
      <p:sp>
        <p:nvSpPr>
          <p:cNvPr id="162" name="Text 20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63" name="Text 21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16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Строгий режим</a:t>
            </a:r>
          </a:p>
        </p:txBody>
      </p:sp>
      <p:sp>
        <p:nvSpPr>
          <p:cNvPr id="16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"use strict";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x = 10;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Ошибки становятся заметнее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Код ведет себя предсказуемее</a:t>
            </a:r>
          </a:p>
        </p:txBody>
      </p:sp>
      <p:sp>
        <p:nvSpPr>
          <p:cNvPr id="16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Строгий режим запрещает часть опасных конструкций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 модулях ES strict включен автоматически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Для учебного кода полезен как дисциплина</a:t>
            </a:r>
          </a:p>
        </p:txBody>
      </p:sp>
      <p:sp>
        <p:nvSpPr>
          <p:cNvPr id="17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7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17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Идентификаторы и имена</a:t>
            </a:r>
          </a:p>
        </p:txBody>
      </p:sp>
      <p:sp>
        <p:nvSpPr>
          <p:cNvPr id="17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Имя должно быть осмысленным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Нельзя использовать зарезервированные слова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Стиль camelCase часто применяют в JS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Хорошее имя снижает потребность в комментариях</a:t>
            </a:r>
          </a:p>
        </p:txBody>
      </p:sp>
      <p:sp>
        <p:nvSpPr>
          <p:cNvPr id="17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7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18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Зарезервированные слова</a:t>
            </a:r>
          </a:p>
        </p:txBody>
      </p:sp>
      <p:sp>
        <p:nvSpPr>
          <p:cNvPr id="18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if, else, switch, for, while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class, function, return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try, catch, finally, throw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import, export, await, yield</a:t>
            </a:r>
          </a:p>
        </p:txBody>
      </p:sp>
      <p:sp>
        <p:nvSpPr>
          <p:cNvPr id="18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8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1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400">
                <a:solidFill>
                  <a:srgbClr val="F8FAFC"/>
                </a:solidFill>
              </a:defRPr>
            </a:lvl1pPr>
          </a:lstStyle>
          <a:p>
            <a:pPr/>
            <a:r>
              <a:t>Часть III. Значения и типы</a:t>
            </a:r>
          </a:p>
        </p:txBody>
      </p:sp>
      <p:sp>
        <p:nvSpPr>
          <p:cNvPr id="188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Числа, строки, даты, null, undefined и преобразования</a:t>
            </a:r>
          </a:p>
        </p:txBody>
      </p:sp>
      <p:sp>
        <p:nvSpPr>
          <p:cNvPr id="189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191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карта понятий</a:t>
            </a:r>
          </a:p>
        </p:txBody>
      </p:sp>
      <p:sp>
        <p:nvSpPr>
          <p:cNvPr id="194" name="Text 1"/>
          <p:cNvSpPr txBox="1"/>
          <p:nvPr/>
        </p:nvSpPr>
        <p:spPr>
          <a:xfrm>
            <a:off x="685799" y="658368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Карта типов JavaScript</a:t>
            </a:r>
          </a:p>
        </p:txBody>
      </p:sp>
      <p:sp>
        <p:nvSpPr>
          <p:cNvPr id="195" name="Shape 2"/>
          <p:cNvSpPr/>
          <p:nvPr/>
        </p:nvSpPr>
        <p:spPr>
          <a:xfrm>
            <a:off x="777240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FACC15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3"/>
          <p:cNvSpPr txBox="1"/>
          <p:nvPr/>
        </p:nvSpPr>
        <p:spPr>
          <a:xfrm>
            <a:off x="941832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Number</a:t>
            </a:r>
          </a:p>
        </p:txBody>
      </p:sp>
      <p:sp>
        <p:nvSpPr>
          <p:cNvPr id="197" name="Text 4"/>
          <p:cNvSpPr txBox="1"/>
          <p:nvPr/>
        </p:nvSpPr>
        <p:spPr>
          <a:xfrm>
            <a:off x="941832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обычные числа</a:t>
            </a:r>
          </a:p>
        </p:txBody>
      </p:sp>
      <p:sp>
        <p:nvSpPr>
          <p:cNvPr id="198" name="Shape 5"/>
          <p:cNvSpPr/>
          <p:nvPr/>
        </p:nvSpPr>
        <p:spPr>
          <a:xfrm>
            <a:off x="4553711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6"/>
          <p:cNvSpPr txBox="1"/>
          <p:nvPr/>
        </p:nvSpPr>
        <p:spPr>
          <a:xfrm>
            <a:off x="4718303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BigInt</a:t>
            </a:r>
          </a:p>
        </p:txBody>
      </p:sp>
      <p:sp>
        <p:nvSpPr>
          <p:cNvPr id="200" name="Text 7"/>
          <p:cNvSpPr txBox="1"/>
          <p:nvPr/>
        </p:nvSpPr>
        <p:spPr>
          <a:xfrm>
            <a:off x="4718303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целые произвольной длины</a:t>
            </a:r>
          </a:p>
        </p:txBody>
      </p:sp>
      <p:sp>
        <p:nvSpPr>
          <p:cNvPr id="201" name="Shape 8"/>
          <p:cNvSpPr/>
          <p:nvPr/>
        </p:nvSpPr>
        <p:spPr>
          <a:xfrm>
            <a:off x="8330183" y="1645920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14B8A6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9"/>
          <p:cNvSpPr txBox="1"/>
          <p:nvPr/>
        </p:nvSpPr>
        <p:spPr>
          <a:xfrm>
            <a:off x="8494776" y="177393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String</a:t>
            </a:r>
          </a:p>
        </p:txBody>
      </p:sp>
      <p:sp>
        <p:nvSpPr>
          <p:cNvPr id="203" name="Text 10"/>
          <p:cNvSpPr txBox="1"/>
          <p:nvPr/>
        </p:nvSpPr>
        <p:spPr>
          <a:xfrm>
            <a:off x="8494776" y="2130551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текст</a:t>
            </a:r>
          </a:p>
        </p:txBody>
      </p:sp>
      <p:sp>
        <p:nvSpPr>
          <p:cNvPr id="204" name="Shape 11"/>
          <p:cNvSpPr/>
          <p:nvPr/>
        </p:nvSpPr>
        <p:spPr>
          <a:xfrm>
            <a:off x="777240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A855F7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2"/>
          <p:cNvSpPr txBox="1"/>
          <p:nvPr/>
        </p:nvSpPr>
        <p:spPr>
          <a:xfrm>
            <a:off x="941832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Boolean</a:t>
            </a:r>
          </a:p>
        </p:txBody>
      </p:sp>
      <p:sp>
        <p:nvSpPr>
          <p:cNvPr id="206" name="Text 13"/>
          <p:cNvSpPr txBox="1"/>
          <p:nvPr/>
        </p:nvSpPr>
        <p:spPr>
          <a:xfrm>
            <a:off x="941832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true / false</a:t>
            </a:r>
          </a:p>
        </p:txBody>
      </p:sp>
      <p:sp>
        <p:nvSpPr>
          <p:cNvPr id="207" name="Shape 14"/>
          <p:cNvSpPr/>
          <p:nvPr/>
        </p:nvSpPr>
        <p:spPr>
          <a:xfrm>
            <a:off x="4553711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FACC15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15"/>
          <p:cNvSpPr txBox="1"/>
          <p:nvPr/>
        </p:nvSpPr>
        <p:spPr>
          <a:xfrm>
            <a:off x="4718303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209" name="Text 16"/>
          <p:cNvSpPr txBox="1"/>
          <p:nvPr/>
        </p:nvSpPr>
        <p:spPr>
          <a:xfrm>
            <a:off x="4718303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нет значения</a:t>
            </a:r>
          </a:p>
        </p:txBody>
      </p:sp>
      <p:sp>
        <p:nvSpPr>
          <p:cNvPr id="210" name="Shape 17"/>
          <p:cNvSpPr/>
          <p:nvPr/>
        </p:nvSpPr>
        <p:spPr>
          <a:xfrm>
            <a:off x="8330183" y="2862072"/>
            <a:ext cx="3429001" cy="960120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22D3EE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8"/>
          <p:cNvSpPr txBox="1"/>
          <p:nvPr/>
        </p:nvSpPr>
        <p:spPr>
          <a:xfrm>
            <a:off x="8494776" y="2990088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undefined</a:t>
            </a:r>
          </a:p>
        </p:txBody>
      </p:sp>
      <p:sp>
        <p:nvSpPr>
          <p:cNvPr id="212" name="Text 19"/>
          <p:cNvSpPr txBox="1"/>
          <p:nvPr/>
        </p:nvSpPr>
        <p:spPr>
          <a:xfrm>
            <a:off x="8494776" y="3346703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не задано</a:t>
            </a:r>
          </a:p>
        </p:txBody>
      </p:sp>
      <p:sp>
        <p:nvSpPr>
          <p:cNvPr id="213" name="Shape 20"/>
          <p:cNvSpPr/>
          <p:nvPr/>
        </p:nvSpPr>
        <p:spPr>
          <a:xfrm>
            <a:off x="777240" y="4078223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14B8A6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1"/>
          <p:cNvSpPr txBox="1"/>
          <p:nvPr/>
        </p:nvSpPr>
        <p:spPr>
          <a:xfrm>
            <a:off x="941832" y="4206240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Symbol</a:t>
            </a:r>
          </a:p>
        </p:txBody>
      </p:sp>
      <p:sp>
        <p:nvSpPr>
          <p:cNvPr id="215" name="Text 22"/>
          <p:cNvSpPr txBox="1"/>
          <p:nvPr/>
        </p:nvSpPr>
        <p:spPr>
          <a:xfrm>
            <a:off x="941832" y="456285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уникальный идентификатор</a:t>
            </a:r>
          </a:p>
        </p:txBody>
      </p:sp>
      <p:sp>
        <p:nvSpPr>
          <p:cNvPr id="216" name="Shape 23"/>
          <p:cNvSpPr/>
          <p:nvPr/>
        </p:nvSpPr>
        <p:spPr>
          <a:xfrm>
            <a:off x="4553711" y="4078223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11936"/>
          </a:solidFill>
          <a:ln w="12700">
            <a:solidFill>
              <a:srgbClr val="A855F7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24"/>
          <p:cNvSpPr txBox="1"/>
          <p:nvPr/>
        </p:nvSpPr>
        <p:spPr>
          <a:xfrm>
            <a:off x="4718303" y="4206240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Object</a:t>
            </a:r>
          </a:p>
        </p:txBody>
      </p:sp>
      <p:sp>
        <p:nvSpPr>
          <p:cNvPr id="218" name="Text 25"/>
          <p:cNvSpPr txBox="1"/>
          <p:nvPr/>
        </p:nvSpPr>
        <p:spPr>
          <a:xfrm>
            <a:off x="4718303" y="456285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ссылочные структуры</a:t>
            </a:r>
          </a:p>
        </p:txBody>
      </p:sp>
      <p:sp>
        <p:nvSpPr>
          <p:cNvPr id="219" name="Shape 26"/>
          <p:cNvSpPr/>
          <p:nvPr/>
        </p:nvSpPr>
        <p:spPr>
          <a:xfrm>
            <a:off x="8330183" y="4078223"/>
            <a:ext cx="3429001" cy="960121"/>
          </a:xfrm>
          <a:prstGeom prst="roundRect">
            <a:avLst>
              <a:gd name="adj" fmla="val 7619"/>
            </a:avLst>
          </a:prstGeom>
          <a:solidFill>
            <a:srgbClr val="182554"/>
          </a:solidFill>
          <a:ln w="12700">
            <a:solidFill>
              <a:srgbClr val="FACC15">
                <a:alpha val="8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27"/>
          <p:cNvSpPr txBox="1"/>
          <p:nvPr/>
        </p:nvSpPr>
        <p:spPr>
          <a:xfrm>
            <a:off x="8494776" y="4206240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1500">
                <a:solidFill>
                  <a:srgbClr val="F8FAFC"/>
                </a:solidFill>
              </a:defRPr>
            </a:lvl1pPr>
          </a:lstStyle>
          <a:p>
            <a:pPr/>
            <a:r>
              <a:t>Function</a:t>
            </a:r>
          </a:p>
        </p:txBody>
      </p:sp>
      <p:sp>
        <p:nvSpPr>
          <p:cNvPr id="221" name="Text 28"/>
          <p:cNvSpPr txBox="1"/>
          <p:nvPr/>
        </p:nvSpPr>
        <p:spPr>
          <a:xfrm>
            <a:off x="8494776" y="4562855"/>
            <a:ext cx="3099817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000">
                <a:solidFill>
                  <a:srgbClr val="A7B4C8"/>
                </a:solidFill>
              </a:defRPr>
            </a:lvl1pPr>
          </a:lstStyle>
          <a:p>
            <a:pPr/>
            <a:r>
              <a:t>вызываемый объект</a:t>
            </a:r>
          </a:p>
        </p:txBody>
      </p:sp>
      <p:sp>
        <p:nvSpPr>
          <p:cNvPr id="222" name="Text 29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23" name="Text 30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22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Примитивы и объекты</a:t>
            </a:r>
          </a:p>
        </p:txBody>
      </p:sp>
      <p:sp>
        <p:nvSpPr>
          <p:cNvPr id="22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Примитивные значения неизменяемы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Объекты изменяемы через ссылку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Массив и функция — разновидности объектов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Это влияет на копирование и сравнение</a:t>
            </a:r>
          </a:p>
        </p:txBody>
      </p:sp>
      <p:sp>
        <p:nvSpPr>
          <p:cNvPr id="22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2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32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typeof: быстрый взгляд на тип</a:t>
            </a:r>
          </a:p>
        </p:txBody>
      </p:sp>
      <p:sp>
        <p:nvSpPr>
          <p:cNvPr id="233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42           // "number"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"hello"      // "string"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true         // "boolean"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undefined    // "undefined"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{}           // "object"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typeof []           // "object"</a:t>
            </a:r>
          </a:p>
        </p:txBody>
      </p:sp>
      <p:sp>
        <p:nvSpPr>
          <p:cNvPr id="235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typeof полезен, но не идеален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Массив тоже объект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Для массивов есть Array.isArray()</a:t>
            </a:r>
          </a:p>
        </p:txBody>
      </p:sp>
      <p:sp>
        <p:nvSpPr>
          <p:cNvPr id="236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37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24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Number</a:t>
            </a:r>
          </a:p>
        </p:txBody>
      </p:sp>
      <p:sp>
        <p:nvSpPr>
          <p:cNvPr id="24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Один основной числовой тип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Используется для целых и дробных значений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Основан на формате с плавающей точкой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Удобен, но имеет ограничения точности</a:t>
            </a:r>
          </a:p>
        </p:txBody>
      </p:sp>
      <p:sp>
        <p:nvSpPr>
          <p:cNvPr id="24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4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4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Арифметика</a:t>
            </a:r>
          </a:p>
        </p:txBody>
      </p:sp>
      <p:sp>
        <p:nvSpPr>
          <p:cNvPr id="24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a = 10 + 5;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b = 10 - 5;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c = 10 * 5;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d = 10 / 3;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r = 10 % 3;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p = 2 ** 8;</a:t>
            </a:r>
          </a:p>
        </p:txBody>
      </p:sp>
      <p:sp>
        <p:nvSpPr>
          <p:cNvPr id="24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% возвращает остаток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** — возведение в степень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Приоритет операций имеет значение</a:t>
            </a:r>
          </a:p>
        </p:txBody>
      </p:sp>
      <p:sp>
        <p:nvSpPr>
          <p:cNvPr id="25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5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5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Ошибка округления</a:t>
            </a:r>
          </a:p>
        </p:txBody>
      </p:sp>
      <p:sp>
        <p:nvSpPr>
          <p:cNvPr id="25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0.1 + 0.2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0.30000000000000004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0.3 - 0.2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0.09999999999999998</a:t>
            </a:r>
          </a:p>
        </p:txBody>
      </p:sp>
      <p:sp>
        <p:nvSpPr>
          <p:cNvPr id="25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Дроби хранятся в двоичном виде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все десятичные дроби представимы точно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Деньги и измерения требуют аккуратности</a:t>
            </a:r>
          </a:p>
        </p:txBody>
      </p:sp>
      <p:sp>
        <p:nvSpPr>
          <p:cNvPr id="25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5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Числа с плавающей точкой</a:t>
            </a:r>
          </a:p>
        </p:txBody>
      </p:sp>
      <p:sp>
        <p:nvSpPr>
          <p:cNvPr id="26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Как сравнивать дробные числа</a:t>
            </a:r>
          </a:p>
        </p:txBody>
      </p:sp>
      <p:sp>
        <p:nvSpPr>
          <p:cNvPr id="26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 проверять равенство дробей напрямую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Использовать допустимую погрешность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Округлять только на этапе вывода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Хранить деньги в целых минимальных единицах</a:t>
            </a:r>
          </a:p>
        </p:txBody>
      </p:sp>
      <p:sp>
        <p:nvSpPr>
          <p:cNvPr id="26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6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29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6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BigInt</a:t>
            </a:r>
          </a:p>
        </p:txBody>
      </p:sp>
      <p:sp>
        <p:nvSpPr>
          <p:cNvPr id="26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big = 9007199254740993n;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result = big + 10n;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Нельзя смешивать Number и BigInt напрямую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big + 10  → TypeError</a:t>
            </a:r>
          </a:p>
        </p:txBody>
      </p:sp>
      <p:sp>
        <p:nvSpPr>
          <p:cNvPr id="27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BigInt — целые произвольной длины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Подходит для больших идентификаторов и точной целой арифметики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заменяет дробные вычисления</a:t>
            </a:r>
          </a:p>
        </p:txBody>
      </p:sp>
      <p:sp>
        <p:nvSpPr>
          <p:cNvPr id="27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7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27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Дата и время</a:t>
            </a:r>
          </a:p>
        </p:txBody>
      </p:sp>
      <p:sp>
        <p:nvSpPr>
          <p:cNvPr id="27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Date хранит момент времени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Месяцы в Date исторически имеют нюансы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Часовые пояса влияют на отображение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Для UI важно разделять хранение и показ времени</a:t>
            </a:r>
          </a:p>
        </p:txBody>
      </p:sp>
      <p:sp>
        <p:nvSpPr>
          <p:cNvPr id="27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7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82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Date: базовый пример</a:t>
            </a:r>
          </a:p>
        </p:txBody>
      </p:sp>
      <p:sp>
        <p:nvSpPr>
          <p:cNvPr id="283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now = new Date();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year = now.getFullYear();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month = now.getMonth() + 1;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text = now.toLocaleString("ru-RU");</a:t>
            </a:r>
          </a:p>
        </p:txBody>
      </p:sp>
      <p:sp>
        <p:nvSpPr>
          <p:cNvPr id="285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Дата в коде и дата на экране — не одно и то же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Пользователь видит локализованное представление</a:t>
            </a:r>
          </a:p>
        </p:txBody>
      </p:sp>
      <p:sp>
        <p:nvSpPr>
          <p:cNvPr id="286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87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29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String</a:t>
            </a:r>
          </a:p>
        </p:txBody>
      </p:sp>
      <p:sp>
        <p:nvSpPr>
          <p:cNvPr id="29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Строки — неизменяемые последовательности символов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Можно использовать одинарные и двойные кавычки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Шаблонные литералы удобны для подстановки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Методы строк возвращают новое значение</a:t>
            </a:r>
          </a:p>
        </p:txBody>
      </p:sp>
      <p:sp>
        <p:nvSpPr>
          <p:cNvPr id="29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29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29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Строковые литералы</a:t>
            </a:r>
          </a:p>
        </p:txBody>
      </p:sp>
      <p:sp>
        <p:nvSpPr>
          <p:cNvPr id="29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a = "Привет";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b = 'Привет';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name = "Анна";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 = `Привет, ${name}!`;</a:t>
            </a:r>
          </a:p>
        </p:txBody>
      </p:sp>
      <p:sp>
        <p:nvSpPr>
          <p:cNvPr id="29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Шаблонные литералы используют обратные кавычки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Подстановка выражений через ${...}</a:t>
            </a:r>
          </a:p>
        </p:txBody>
      </p:sp>
      <p:sp>
        <p:nvSpPr>
          <p:cNvPr id="30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0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0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Полезные методы строк</a:t>
            </a:r>
          </a:p>
        </p:txBody>
      </p:sp>
      <p:sp>
        <p:nvSpPr>
          <p:cNvPr id="30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text = "  JavaScript  ";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text.trim();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text.toUpperCase();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text.includes("Script");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text.replace("Java", "Type");</a:t>
            </a:r>
          </a:p>
        </p:txBody>
      </p:sp>
      <p:sp>
        <p:nvSpPr>
          <p:cNvPr id="30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Методы не меняют исходную строку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Результат нужно сохранить или сразу использовать</a:t>
            </a:r>
          </a:p>
        </p:txBody>
      </p:sp>
      <p:sp>
        <p:nvSpPr>
          <p:cNvPr id="30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0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сравнение</a:t>
            </a:r>
          </a:p>
        </p:txBody>
      </p:sp>
      <p:sp>
        <p:nvSpPr>
          <p:cNvPr id="31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null и undefined</a:t>
            </a:r>
          </a:p>
        </p:txBody>
      </p:sp>
      <p:sp>
        <p:nvSpPr>
          <p:cNvPr id="313" name="Text 2"/>
          <p:cNvSpPr txBox="1"/>
          <p:nvPr/>
        </p:nvSpPr>
        <p:spPr>
          <a:xfrm>
            <a:off x="777239" y="1639824"/>
            <a:ext cx="48463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ACC15"/>
                </a:solidFill>
              </a:defRPr>
            </a:lvl1pPr>
          </a:lstStyle>
          <a:p>
            <a:pPr/>
            <a:r>
              <a:t>undefined</a:t>
            </a:r>
          </a:p>
        </p:txBody>
      </p:sp>
      <p:sp>
        <p:nvSpPr>
          <p:cNvPr id="314" name="Text 3"/>
          <p:cNvSpPr txBox="1"/>
          <p:nvPr/>
        </p:nvSpPr>
        <p:spPr>
          <a:xfrm>
            <a:off x="841247" y="2103120"/>
            <a:ext cx="4846322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значение не задано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переменная объявлена без значения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функция ничего не вернула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свойство отсутствует</a:t>
            </a:r>
          </a:p>
        </p:txBody>
      </p:sp>
      <p:sp>
        <p:nvSpPr>
          <p:cNvPr id="315" name="Text 4"/>
          <p:cNvSpPr txBox="1"/>
          <p:nvPr/>
        </p:nvSpPr>
        <p:spPr>
          <a:xfrm>
            <a:off x="6446520" y="1639824"/>
            <a:ext cx="48463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22D3EE"/>
                </a:solidFill>
              </a:defRPr>
            </a:lvl1pPr>
          </a:lstStyle>
          <a:p>
            <a:pPr/>
            <a:r>
              <a:t>null</a:t>
            </a:r>
          </a:p>
        </p:txBody>
      </p:sp>
      <p:sp>
        <p:nvSpPr>
          <p:cNvPr id="316" name="Text 5"/>
          <p:cNvSpPr txBox="1"/>
          <p:nvPr/>
        </p:nvSpPr>
        <p:spPr>
          <a:xfrm>
            <a:off x="6510528" y="2103120"/>
            <a:ext cx="484632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пустое значение задано явно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часто означает «нет объекта»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обычно ставит разработчик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используется как намерение</a:t>
            </a:r>
          </a:p>
        </p:txBody>
      </p:sp>
      <p:sp>
        <p:nvSpPr>
          <p:cNvPr id="317" name="Text 6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18" name="Text 7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321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Boolean</a:t>
            </a:r>
          </a:p>
        </p:txBody>
      </p:sp>
      <p:sp>
        <p:nvSpPr>
          <p:cNvPr id="322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true и false управляют логикой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Используются в условиях и циклах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Многие значения могут приводиться к boolean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False: false, 0, "", null, undefined, NaN</a:t>
            </a:r>
          </a:p>
        </p:txBody>
      </p:sp>
      <p:sp>
        <p:nvSpPr>
          <p:cNvPr id="323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24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27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Преобразование к boolean</a:t>
            </a:r>
          </a:p>
        </p:txBody>
      </p:sp>
      <p:sp>
        <p:nvSpPr>
          <p:cNvPr id="328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9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Boolean(0)        // false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Boolean("")       // false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Boolean("0")      // true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Boolean([])       // true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Boolean(null)     // false</a:t>
            </a:r>
          </a:p>
        </p:txBody>
      </p:sp>
      <p:sp>
        <p:nvSpPr>
          <p:cNvPr id="330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путать пустую строку и строку "0"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Пустой массив — объект, поэтому true</a:t>
            </a:r>
          </a:p>
        </p:txBody>
      </p:sp>
      <p:sp>
        <p:nvSpPr>
          <p:cNvPr id="331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32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33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336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49808">
              <a:defRPr b="1" sz="2788">
                <a:solidFill>
                  <a:srgbClr val="F8FAFC"/>
                </a:solidFill>
              </a:defRPr>
            </a:lvl1pPr>
          </a:lstStyle>
          <a:p>
            <a:pPr/>
            <a:r>
              <a:t>Часть IV. Переменные, выражения и операции</a:t>
            </a:r>
          </a:p>
        </p:txBody>
      </p:sp>
      <p:sp>
        <p:nvSpPr>
          <p:cNvPr id="337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Как программа хранит значения и вычисляет результат</a:t>
            </a:r>
          </a:p>
        </p:txBody>
      </p:sp>
      <p:sp>
        <p:nvSpPr>
          <p:cNvPr id="338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40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39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сравнение</a:t>
            </a:r>
          </a:p>
        </p:txBody>
      </p:sp>
      <p:sp>
        <p:nvSpPr>
          <p:cNvPr id="343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let, const, var</a:t>
            </a:r>
          </a:p>
        </p:txBody>
      </p:sp>
      <p:sp>
        <p:nvSpPr>
          <p:cNvPr id="344" name="Text 2"/>
          <p:cNvSpPr txBox="1"/>
          <p:nvPr/>
        </p:nvSpPr>
        <p:spPr>
          <a:xfrm>
            <a:off x="777239" y="1639824"/>
            <a:ext cx="48463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ACC15"/>
                </a:solidFill>
              </a:defRPr>
            </a:lvl1pPr>
          </a:lstStyle>
          <a:p>
            <a:pPr/>
            <a:r>
              <a:t>Современный код</a:t>
            </a:r>
          </a:p>
        </p:txBody>
      </p:sp>
      <p:sp>
        <p:nvSpPr>
          <p:cNvPr id="345" name="Text 3"/>
          <p:cNvSpPr txBox="1"/>
          <p:nvPr/>
        </p:nvSpPr>
        <p:spPr>
          <a:xfrm>
            <a:off x="841247" y="2103120"/>
            <a:ext cx="4846322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const — значение ссылки не переопределяется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let — значение может изменяться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блочная область видимости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предсказуемее поведение</a:t>
            </a:r>
          </a:p>
        </p:txBody>
      </p:sp>
      <p:sp>
        <p:nvSpPr>
          <p:cNvPr id="346" name="Text 4"/>
          <p:cNvSpPr txBox="1"/>
          <p:nvPr/>
        </p:nvSpPr>
        <p:spPr>
          <a:xfrm>
            <a:off x="6446520" y="1639824"/>
            <a:ext cx="48463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22D3EE"/>
                </a:solidFill>
              </a:defRPr>
            </a:lvl1pPr>
          </a:lstStyle>
          <a:p>
            <a:pPr/>
            <a:r>
              <a:t>var</a:t>
            </a:r>
          </a:p>
        </p:txBody>
      </p:sp>
      <p:sp>
        <p:nvSpPr>
          <p:cNvPr id="347" name="Text 5"/>
          <p:cNvSpPr txBox="1"/>
          <p:nvPr/>
        </p:nvSpPr>
        <p:spPr>
          <a:xfrm>
            <a:off x="6510528" y="2103120"/>
            <a:ext cx="484632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функциональная область видимости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историческая конструкция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поднимается иначе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 новом коде обычно избегают</a:t>
            </a:r>
          </a:p>
        </p:txBody>
      </p:sp>
      <p:sp>
        <p:nvSpPr>
          <p:cNvPr id="348" name="Text 6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49" name="Text 7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52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Объявление переменных</a:t>
            </a:r>
          </a:p>
        </p:txBody>
      </p:sp>
      <p:sp>
        <p:nvSpPr>
          <p:cNvPr id="353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course = "UI";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score = 0;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score = score + 10;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course = "JS";  // ошибка</a:t>
            </a:r>
          </a:p>
        </p:txBody>
      </p:sp>
      <p:sp>
        <p:nvSpPr>
          <p:cNvPr id="355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const не делает объект неизменяемым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let используем там, где значение меняется</a:t>
            </a:r>
          </a:p>
        </p:txBody>
      </p:sp>
      <p:sp>
        <p:nvSpPr>
          <p:cNvPr id="356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57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60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const и изменяемый объект</a:t>
            </a:r>
          </a:p>
        </p:txBody>
      </p:sp>
      <p:sp>
        <p:nvSpPr>
          <p:cNvPr id="361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user = { name: "Ivan" };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user.name = "Petr";     // можно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user = {};           // нельзя</a:t>
            </a:r>
          </a:p>
        </p:txBody>
      </p:sp>
      <p:sp>
        <p:nvSpPr>
          <p:cNvPr id="363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const фиксирует привязку имени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Содержимое объекта может изменяться</a:t>
            </a:r>
          </a:p>
        </p:txBody>
      </p:sp>
      <p:sp>
        <p:nvSpPr>
          <p:cNvPr id="364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65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36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Присваивание</a:t>
            </a:r>
          </a:p>
        </p:txBody>
      </p:sp>
      <p:sp>
        <p:nvSpPr>
          <p:cNvPr id="36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Оператор = записывает значение в переменную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+=, -=, *=, /= сокращают частые операции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Деструктуризация извлекает части объекта или массива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Присваивание тоже является выражением</a:t>
            </a:r>
          </a:p>
        </p:txBody>
      </p:sp>
      <p:sp>
        <p:nvSpPr>
          <p:cNvPr id="37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7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7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Деструктуризация</a:t>
            </a:r>
          </a:p>
        </p:txBody>
      </p:sp>
      <p:sp>
        <p:nvSpPr>
          <p:cNvPr id="37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point = { x: 10, y: 20 };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{ x, y } = point;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values = ["a", "b", "c"];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[first, second] = values;</a:t>
            </a:r>
          </a:p>
        </p:txBody>
      </p:sp>
      <p:sp>
        <p:nvSpPr>
          <p:cNvPr id="37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Удобно при работе с данными форм и API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Делает код компактнее, но не стоит злоупотреблять</a:t>
            </a:r>
          </a:p>
        </p:txBody>
      </p:sp>
      <p:sp>
        <p:nvSpPr>
          <p:cNvPr id="37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7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38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Выражение</a:t>
            </a:r>
          </a:p>
        </p:txBody>
      </p:sp>
      <p:sp>
        <p:nvSpPr>
          <p:cNvPr id="38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Выражение вычисляется в значение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2 + 2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user.name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isActive &amp;&amp; hasAccess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calculateTotal(items)</a:t>
            </a:r>
          </a:p>
        </p:txBody>
      </p:sp>
      <p:sp>
        <p:nvSpPr>
          <p:cNvPr id="38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8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38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Оператор и инструкция</a:t>
            </a:r>
          </a:p>
        </p:txBody>
      </p:sp>
      <p:sp>
        <p:nvSpPr>
          <p:cNvPr id="38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Оператор выполняет действие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Инструкция может содержать выражение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Блок объединяет несколько инструкций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Пустой оператор существует, но почти не нужен</a:t>
            </a:r>
          </a:p>
        </p:txBody>
      </p:sp>
      <p:sp>
        <p:nvSpPr>
          <p:cNvPr id="39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9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39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Оператор-выражение</a:t>
            </a:r>
          </a:p>
        </p:txBody>
      </p:sp>
      <p:sp>
        <p:nvSpPr>
          <p:cNvPr id="39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x = 1;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x++;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console.log(x);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const y = x * 2;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39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каждое выражение полезно как отдельная инструкция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Блок задает область видимости для let/const</a:t>
            </a:r>
          </a:p>
        </p:txBody>
      </p:sp>
      <p:sp>
        <p:nvSpPr>
          <p:cNvPr id="39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39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40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Первичные выражения</a:t>
            </a:r>
          </a:p>
        </p:txBody>
      </p:sp>
      <p:sp>
        <p:nvSpPr>
          <p:cNvPr id="40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Литералы: 1, "text", true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Имена: user, total, document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this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Группировка: (a + b) * c</a:t>
            </a:r>
          </a:p>
        </p:txBody>
      </p:sp>
      <p:sp>
        <p:nvSpPr>
          <p:cNvPr id="40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0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0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Доступ к свойствам</a:t>
            </a:r>
          </a:p>
        </p:txBody>
      </p:sp>
      <p:sp>
        <p:nvSpPr>
          <p:cNvPr id="40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user.name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user["name"]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items[0]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form.elements.email</a:t>
            </a:r>
          </a:p>
        </p:txBody>
      </p:sp>
      <p:sp>
        <p:nvSpPr>
          <p:cNvPr id="41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Через точку — когда имя известно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Через скобки — когда имя хранится в переменной</a:t>
            </a:r>
          </a:p>
        </p:txBody>
      </p:sp>
      <p:sp>
        <p:nvSpPr>
          <p:cNvPr id="41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1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49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1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Условный доступ</a:t>
            </a:r>
          </a:p>
        </p:txBody>
      </p:sp>
      <p:sp>
        <p:nvSpPr>
          <p:cNvPr id="41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city = user?.address?.city;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result = handler?.();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Если части цепочки нет — вернется undefined</a:t>
            </a:r>
          </a:p>
        </p:txBody>
      </p:sp>
      <p:sp>
        <p:nvSpPr>
          <p:cNvPr id="41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Позволяет безопасно читать вложенные свойства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заменяет полноценную проверку данных</a:t>
            </a:r>
          </a:p>
        </p:txBody>
      </p:sp>
      <p:sp>
        <p:nvSpPr>
          <p:cNvPr id="42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2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42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Инициализаторы объектов и массивов</a:t>
            </a:r>
          </a:p>
        </p:txBody>
      </p:sp>
      <p:sp>
        <p:nvSpPr>
          <p:cNvPr id="42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 собирает именованные свойства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Массив хранит упорядоченный набор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Литералы позволяют создавать структуры прямо в коде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Это база передачи данных в UI</a:t>
            </a:r>
          </a:p>
        </p:txBody>
      </p:sp>
      <p:sp>
        <p:nvSpPr>
          <p:cNvPr id="42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2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30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Объект и массив</a:t>
            </a:r>
          </a:p>
        </p:txBody>
      </p:sp>
      <p:sp>
        <p:nvSpPr>
          <p:cNvPr id="431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2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crop =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name: "Пшеница",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area: 120.5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crops = ["Пшеница", "Рожь", "Овес"];</a:t>
            </a:r>
          </a:p>
        </p:txBody>
      </p:sp>
      <p:sp>
        <p:nvSpPr>
          <p:cNvPr id="433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Объект описывает сущность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Массив хранит коллекцию</a:t>
            </a:r>
          </a:p>
        </p:txBody>
      </p:sp>
      <p:sp>
        <p:nvSpPr>
          <p:cNvPr id="434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35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43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Арифметические выражения</a:t>
            </a:r>
          </a:p>
        </p:txBody>
      </p:sp>
      <p:sp>
        <p:nvSpPr>
          <p:cNvPr id="43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+ сложение или конкатенация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- * / обычная арифметика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% остаток от деления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** возведение в степень</a:t>
            </a:r>
          </a:p>
        </p:txBody>
      </p:sp>
      <p:sp>
        <p:nvSpPr>
          <p:cNvPr id="44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4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4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+ может быть ловушкой</a:t>
            </a:r>
          </a:p>
        </p:txBody>
      </p:sp>
      <p:sp>
        <p:nvSpPr>
          <p:cNvPr id="44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1 + 2        // 3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"1" + 2      // "12"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1 + "2"      // "12"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"5" - 2      // 3</a:t>
            </a:r>
          </a:p>
        </p:txBody>
      </p:sp>
      <p:sp>
        <p:nvSpPr>
          <p:cNvPr id="44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+ со строкой дает склеивание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Другие арифметические операции часто приводят к числу</a:t>
            </a:r>
          </a:p>
        </p:txBody>
      </p:sp>
      <p:sp>
        <p:nvSpPr>
          <p:cNvPr id="44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4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45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49808">
              <a:defRPr b="1" sz="2788">
                <a:solidFill>
                  <a:srgbClr val="F8FAFC"/>
                </a:solidFill>
              </a:defRPr>
            </a:lvl1pPr>
          </a:lstStyle>
          <a:p>
            <a:pPr/>
            <a:r>
              <a:t>Часть V. Сравнения, логика и управление потоком</a:t>
            </a:r>
          </a:p>
        </p:txBody>
      </p:sp>
      <p:sp>
        <p:nvSpPr>
          <p:cNvPr id="454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Условия, циклы и переходы</a:t>
            </a:r>
          </a:p>
        </p:txBody>
      </p:sp>
      <p:sp>
        <p:nvSpPr>
          <p:cNvPr id="455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57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сравнение</a:t>
            </a:r>
          </a:p>
        </p:txBody>
      </p:sp>
      <p:sp>
        <p:nvSpPr>
          <p:cNvPr id="46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== и ===</a:t>
            </a:r>
          </a:p>
        </p:txBody>
      </p:sp>
      <p:sp>
        <p:nvSpPr>
          <p:cNvPr id="461" name="Text 2"/>
          <p:cNvSpPr txBox="1"/>
          <p:nvPr/>
        </p:nvSpPr>
        <p:spPr>
          <a:xfrm>
            <a:off x="777239" y="1639824"/>
            <a:ext cx="484632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ACC15"/>
                </a:solidFill>
              </a:defRPr>
            </a:lvl1pPr>
          </a:lstStyle>
          <a:p>
            <a:pPr/>
            <a:r>
              <a:t>==</a:t>
            </a:r>
          </a:p>
        </p:txBody>
      </p:sp>
      <p:sp>
        <p:nvSpPr>
          <p:cNvPr id="462" name="Text 3"/>
          <p:cNvSpPr txBox="1"/>
          <p:nvPr/>
        </p:nvSpPr>
        <p:spPr>
          <a:xfrm>
            <a:off x="841247" y="2103120"/>
            <a:ext cx="4846322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сравнивает с приведением типов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может давать неожиданный результат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исторически встречается в коде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 учебном коде лучше избегать</a:t>
            </a:r>
          </a:p>
        </p:txBody>
      </p:sp>
      <p:sp>
        <p:nvSpPr>
          <p:cNvPr id="463" name="Text 4"/>
          <p:cNvSpPr txBox="1"/>
          <p:nvPr/>
        </p:nvSpPr>
        <p:spPr>
          <a:xfrm>
            <a:off x="6446520" y="1639824"/>
            <a:ext cx="484632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22D3EE"/>
                </a:solidFill>
              </a:defRPr>
            </a:lvl1pPr>
          </a:lstStyle>
          <a:p>
            <a:pPr/>
            <a:r>
              <a:t>===</a:t>
            </a:r>
          </a:p>
        </p:txBody>
      </p:sp>
      <p:sp>
        <p:nvSpPr>
          <p:cNvPr id="464" name="Text 5"/>
          <p:cNvSpPr txBox="1"/>
          <p:nvPr/>
        </p:nvSpPr>
        <p:spPr>
          <a:xfrm>
            <a:off x="6510528" y="2103120"/>
            <a:ext cx="4846321" cy="3840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строгое сравнение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без автоматического приведения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предсказуемее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рекомендуется по умолчанию</a:t>
            </a:r>
          </a:p>
        </p:txBody>
      </p:sp>
      <p:sp>
        <p:nvSpPr>
          <p:cNvPr id="465" name="Text 6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66" name="Text 7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69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Равенство</a:t>
            </a:r>
          </a:p>
        </p:txBody>
      </p:sp>
      <p:sp>
        <p:nvSpPr>
          <p:cNvPr id="470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1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0 == false      // true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0 === false     // false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"5" == 5        // true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"5" === 5       // false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null == undefined  // true</a:t>
            </a:r>
          </a:p>
        </p:txBody>
      </p:sp>
      <p:sp>
        <p:nvSpPr>
          <p:cNvPr id="472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 интерфейсах такие ошибки особенно неприятны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 умолчанию используем === и !==</a:t>
            </a:r>
          </a:p>
        </p:txBody>
      </p:sp>
      <p:sp>
        <p:nvSpPr>
          <p:cNvPr id="473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74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477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Выражения отношений</a:t>
            </a:r>
          </a:p>
        </p:txBody>
      </p:sp>
      <p:sp>
        <p:nvSpPr>
          <p:cNvPr id="478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&lt;, &gt;, &lt;=, &gt;=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in — есть ли свойство в объекте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instanceof — принадлежность к классу/конструктору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Результат — boolean</a:t>
            </a:r>
          </a:p>
        </p:txBody>
      </p:sp>
      <p:sp>
        <p:nvSpPr>
          <p:cNvPr id="479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80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83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Логические выражения</a:t>
            </a:r>
          </a:p>
        </p:txBody>
      </p:sp>
      <p:sp>
        <p:nvSpPr>
          <p:cNvPr id="484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isValid &amp;&amp; hasAccess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isAdmin || isOwner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!isDisabled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name = inputValue || "Без имени";</a:t>
            </a:r>
          </a:p>
        </p:txBody>
      </p:sp>
      <p:sp>
        <p:nvSpPr>
          <p:cNvPr id="486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&amp;&amp; — «и»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|| — «или»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! — отрицание</a:t>
            </a:r>
          </a:p>
        </p:txBody>
      </p:sp>
      <p:sp>
        <p:nvSpPr>
          <p:cNvPr id="487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88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59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491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Short-circuit evaluation</a:t>
            </a:r>
          </a:p>
        </p:txBody>
      </p:sp>
      <p:sp>
        <p:nvSpPr>
          <p:cNvPr id="492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&amp;&amp; останавливается на первом false-подобном значении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|| останавливается на первом true-подобном значении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Это используется для значений по умолчанию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Но может ухудшить читаемость</a:t>
            </a:r>
          </a:p>
        </p:txBody>
      </p:sp>
      <p:sp>
        <p:nvSpPr>
          <p:cNvPr id="493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494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497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Оператор ??</a:t>
            </a:r>
          </a:p>
        </p:txBody>
      </p:sp>
      <p:sp>
        <p:nvSpPr>
          <p:cNvPr id="498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count = userCount ?? 0;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Использует значение справа только при null/undefined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// 0 и "" не заменяются</a:t>
            </a:r>
          </a:p>
        </p:txBody>
      </p:sp>
      <p:sp>
        <p:nvSpPr>
          <p:cNvPr id="500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Полезен для форм и настроек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Отличается от ||</a:t>
            </a:r>
          </a:p>
        </p:txBody>
      </p:sp>
      <p:sp>
        <p:nvSpPr>
          <p:cNvPr id="501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02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05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if / else if / else</a:t>
            </a:r>
          </a:p>
        </p:txBody>
      </p:sp>
      <p:sp>
        <p:nvSpPr>
          <p:cNvPr id="506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7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if (score &gt;= 85)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grade = "отлично";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 else if (score &gt;= 70)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grade = "хорошо";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 else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grade = "нужно доработать";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508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Условие должно быть читаемым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Сложные проверки лучше выносить в функции</a:t>
            </a:r>
          </a:p>
        </p:txBody>
      </p:sp>
      <p:sp>
        <p:nvSpPr>
          <p:cNvPr id="509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10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13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switch</a:t>
            </a:r>
          </a:p>
        </p:txBody>
      </p:sp>
      <p:sp>
        <p:nvSpPr>
          <p:cNvPr id="514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switch (role)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case "admin":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access = "full";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break;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case "student":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access = "limited";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break;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default: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access = "none";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516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Удобен для выбора из фиксированного набора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Не забываем break</a:t>
            </a:r>
          </a:p>
        </p:txBody>
      </p:sp>
      <p:sp>
        <p:nvSpPr>
          <p:cNvPr id="517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18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521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Циклы</a:t>
            </a:r>
          </a:p>
        </p:txBody>
      </p:sp>
      <p:sp>
        <p:nvSpPr>
          <p:cNvPr id="522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while — пока условие истинно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do/while — выполнить минимум один раз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for — классический счетчик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for/of — перебор значений коллекции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for/in — перебор ключей объекта</a:t>
            </a:r>
          </a:p>
        </p:txBody>
      </p:sp>
      <p:sp>
        <p:nvSpPr>
          <p:cNvPr id="523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24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27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for и while</a:t>
            </a:r>
          </a:p>
        </p:txBody>
      </p:sp>
      <p:sp>
        <p:nvSpPr>
          <p:cNvPr id="528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9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 (let i = 0; i &lt; 5; i++)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console.log(i);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let n = 5;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while (n &gt; 0)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n--;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530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for удобен при известном числе повторов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while — когда главный критерий условие</a:t>
            </a:r>
          </a:p>
        </p:txBody>
      </p:sp>
      <p:sp>
        <p:nvSpPr>
          <p:cNvPr id="531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32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35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for/of и for/in</a:t>
            </a:r>
          </a:p>
        </p:txBody>
      </p:sp>
      <p:sp>
        <p:nvSpPr>
          <p:cNvPr id="536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7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items = ["a", "b", "c"];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 (const item of items)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console.log(item);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 (const key in user)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console.log(key, user[key]);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538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for/of — значения массива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for/in — имена свойств объекта</a:t>
            </a:r>
          </a:p>
        </p:txBody>
      </p:sp>
      <p:sp>
        <p:nvSpPr>
          <p:cNvPr id="539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40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543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Переходы</a:t>
            </a:r>
          </a:p>
        </p:txBody>
      </p:sp>
      <p:sp>
        <p:nvSpPr>
          <p:cNvPr id="544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break — выйти из цикла или switch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continue — перейти к следующей итерации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return — вернуть результат функции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throw — выбросить ошибку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try/catch/finally — обработать ошибку</a:t>
            </a:r>
          </a:p>
        </p:txBody>
      </p:sp>
      <p:sp>
        <p:nvSpPr>
          <p:cNvPr id="545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46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49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try / catch / finally</a:t>
            </a:r>
          </a:p>
        </p:txBody>
      </p:sp>
      <p:sp>
        <p:nvSpPr>
          <p:cNvPr id="550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51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try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const data = JSON.parse(text);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 catch (error)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console.error("Некорректный JSON");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 finally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console.log("Попытка завершена");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552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Ошибки должны обрабатываться предсказуемо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Пользователь не должен видеть «сырой» stack trace</a:t>
            </a:r>
          </a:p>
        </p:txBody>
      </p:sp>
      <p:sp>
        <p:nvSpPr>
          <p:cNvPr id="553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54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557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debugger и with</a:t>
            </a:r>
          </a:p>
        </p:txBody>
      </p:sp>
      <p:sp>
        <p:nvSpPr>
          <p:cNvPr id="558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debugger останавливает выполнение в инструментах разработчика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with изменяет поиск имен и считается опасной конструкцией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 современном коде with практически не используется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Строгий режим запрещает with</a:t>
            </a:r>
          </a:p>
        </p:txBody>
      </p:sp>
      <p:sp>
        <p:nvSpPr>
          <p:cNvPr id="559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60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69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5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822959">
              <a:defRPr b="1" sz="3059">
                <a:solidFill>
                  <a:srgbClr val="F8FAFC"/>
                </a:solidFill>
              </a:defRPr>
            </a:lvl1pPr>
          </a:lstStyle>
          <a:p>
            <a:pPr/>
            <a:r>
              <a:t>Часть VI. Объекты и массивы</a:t>
            </a:r>
          </a:p>
        </p:txBody>
      </p:sp>
      <p:sp>
        <p:nvSpPr>
          <p:cNvPr id="565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Как JavaScript представляет данные интерфейса</a:t>
            </a:r>
          </a:p>
        </p:txBody>
      </p:sp>
      <p:sp>
        <p:nvSpPr>
          <p:cNvPr id="566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7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68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812280" y="1143000"/>
            <a:ext cx="4892041" cy="2743200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572" name="Text 1"/>
          <p:cNvSpPr txBox="1"/>
          <p:nvPr/>
        </p:nvSpPr>
        <p:spPr>
          <a:xfrm>
            <a:off x="685799" y="713231"/>
            <a:ext cx="55778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Объект</a:t>
            </a:r>
          </a:p>
        </p:txBody>
      </p:sp>
      <p:sp>
        <p:nvSpPr>
          <p:cNvPr id="573" name="Text 2"/>
          <p:cNvSpPr txBox="1"/>
          <p:nvPr/>
        </p:nvSpPr>
        <p:spPr>
          <a:xfrm>
            <a:off x="822960" y="1828799"/>
            <a:ext cx="521208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Коллекция свойств: ключ → значение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Описывает сущность предметной области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Может хранить данные и методы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Почти всё сложное в JS связано с объектами</a:t>
            </a:r>
          </a:p>
        </p:txBody>
      </p:sp>
      <p:sp>
        <p:nvSpPr>
          <p:cNvPr id="57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7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7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Создание объекта</a:t>
            </a:r>
          </a:p>
        </p:txBody>
      </p:sp>
      <p:sp>
        <p:nvSpPr>
          <p:cNvPr id="57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user =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name: "Мария",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role: "student",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active: true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};</a:t>
            </a:r>
          </a:p>
        </p:txBody>
      </p:sp>
      <p:sp>
        <p:nvSpPr>
          <p:cNvPr id="58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Литерал объекта — самый частый способ создания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Ключи обычно строки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Значение может быть любого типа</a:t>
            </a:r>
          </a:p>
        </p:txBody>
      </p:sp>
      <p:sp>
        <p:nvSpPr>
          <p:cNvPr id="58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8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8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Чтение и запись свойств</a:t>
            </a:r>
          </a:p>
        </p:txBody>
      </p:sp>
      <p:sp>
        <p:nvSpPr>
          <p:cNvPr id="58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user.name;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user["role"];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user.active = false;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user.group = "ИСиТ";</a:t>
            </a:r>
          </a:p>
        </p:txBody>
      </p:sp>
      <p:sp>
        <p:nvSpPr>
          <p:cNvPr id="58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Свойства можно добавлять динамически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Это удобно, но требует дисциплины данных</a:t>
            </a:r>
          </a:p>
        </p:txBody>
      </p:sp>
      <p:sp>
        <p:nvSpPr>
          <p:cNvPr id="59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9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59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Удаление и проверка</a:t>
            </a:r>
          </a:p>
        </p:txBody>
      </p:sp>
      <p:sp>
        <p:nvSpPr>
          <p:cNvPr id="59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delete user.group;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"name" in user;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user.hasOwnProperty("role");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Object.hasOwn(user, "role");</a:t>
            </a:r>
          </a:p>
        </p:txBody>
      </p:sp>
      <p:sp>
        <p:nvSpPr>
          <p:cNvPr id="59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delete удаляет свойство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Проверка нужна при внешних данных и API</a:t>
            </a:r>
          </a:p>
        </p:txBody>
      </p:sp>
      <p:sp>
        <p:nvSpPr>
          <p:cNvPr id="59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59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0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Перечисление свойств</a:t>
            </a:r>
          </a:p>
        </p:txBody>
      </p:sp>
      <p:sp>
        <p:nvSpPr>
          <p:cNvPr id="60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Object.keys(obj) — ключи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Object.values(obj) — значения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Object.entries(obj) — пары ключ–значение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for/in перебирает перечислимые свойства</a:t>
            </a:r>
          </a:p>
        </p:txBody>
      </p:sp>
      <p:sp>
        <p:nvSpPr>
          <p:cNvPr id="60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0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0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Object.entries()</a:t>
            </a:r>
          </a:p>
        </p:txBody>
      </p:sp>
      <p:sp>
        <p:nvSpPr>
          <p:cNvPr id="60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 (const [key, value] of Object.entries(user))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console.log(key, value);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61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Удобно для таблиц, форм и отладки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Связка с деструктуризацией делает код короче</a:t>
            </a:r>
          </a:p>
        </p:txBody>
      </p:sp>
      <p:sp>
        <p:nvSpPr>
          <p:cNvPr id="61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1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1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Сериализация объектов</a:t>
            </a:r>
          </a:p>
        </p:txBody>
      </p:sp>
      <p:sp>
        <p:nvSpPr>
          <p:cNvPr id="61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JSON.stringify(obj) превращает объект в строку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JSON.parse(text) восстанавливает объект из JSON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Не все значения корректно сериализуются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Функции в JSON не сохраняются</a:t>
            </a:r>
          </a:p>
        </p:txBody>
      </p:sp>
      <p:sp>
        <p:nvSpPr>
          <p:cNvPr id="61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1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22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JSON</a:t>
            </a:r>
          </a:p>
        </p:txBody>
      </p:sp>
      <p:sp>
        <p:nvSpPr>
          <p:cNvPr id="623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4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text = JSON.stringify(user);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copy = JSON.parse(text);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console.log(text);</a:t>
            </a:r>
          </a:p>
        </p:txBody>
      </p:sp>
      <p:sp>
        <p:nvSpPr>
          <p:cNvPr id="625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JSON — основной формат обмена данными в вебе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Важно обрабатывать ошибки parse</a:t>
            </a:r>
          </a:p>
        </p:txBody>
      </p:sp>
      <p:sp>
        <p:nvSpPr>
          <p:cNvPr id="626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27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3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Массив</a:t>
            </a:r>
          </a:p>
        </p:txBody>
      </p:sp>
      <p:sp>
        <p:nvSpPr>
          <p:cNvPr id="63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Упорядоченная коллекция элементов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Индексация начинается с 0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Длина доступна через length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Подходит для списков, таблиц, результатов поиска</a:t>
            </a:r>
          </a:p>
        </p:txBody>
      </p:sp>
      <p:sp>
        <p:nvSpPr>
          <p:cNvPr id="63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3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79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3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Создание массива</a:t>
            </a:r>
          </a:p>
        </p:txBody>
      </p:sp>
      <p:sp>
        <p:nvSpPr>
          <p:cNvPr id="63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numbers = [1, 2, 3];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crops = ["Пшеница", "Овес"];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crops[0];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crops[1] = "Рожь";</a:t>
            </a:r>
          </a:p>
        </p:txBody>
      </p:sp>
      <p:sp>
        <p:nvSpPr>
          <p:cNvPr id="63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Массив — объект со специальным поведением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Индексы — целочисленные ключи</a:t>
            </a:r>
          </a:p>
        </p:txBody>
      </p:sp>
      <p:sp>
        <p:nvSpPr>
          <p:cNvPr id="64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4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4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Длина массива</a:t>
            </a:r>
          </a:p>
        </p:txBody>
      </p:sp>
      <p:sp>
        <p:nvSpPr>
          <p:cNvPr id="64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length показывает позицию после последнего элемента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Изменение length может обрезать массив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Пустые места возможны, но опасны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Разреженные массивы лучше не создавать без необходимости</a:t>
            </a:r>
          </a:p>
        </p:txBody>
      </p:sp>
      <p:sp>
        <p:nvSpPr>
          <p:cNvPr id="64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4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50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Добавление и удаление</a:t>
            </a:r>
          </a:p>
        </p:txBody>
      </p:sp>
      <p:sp>
        <p:nvSpPr>
          <p:cNvPr id="651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2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items.push("new");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items.pop();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items.unshift("first");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items.shift();</a:t>
            </a:r>
          </a:p>
        </p:txBody>
      </p:sp>
      <p:sp>
        <p:nvSpPr>
          <p:cNvPr id="653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push/pop работают с концом массива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unshift/shift работают с началом и могут быть дороже</a:t>
            </a:r>
          </a:p>
        </p:txBody>
      </p:sp>
      <p:sp>
        <p:nvSpPr>
          <p:cNvPr id="654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55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5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Итерация по массиву</a:t>
            </a:r>
          </a:p>
        </p:txBody>
      </p:sp>
      <p:sp>
        <p:nvSpPr>
          <p:cNvPr id="65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for (const item of items)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console.log(item);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items.forEach((item) =&gt;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console.log(item);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});</a:t>
            </a:r>
          </a:p>
        </p:txBody>
      </p:sp>
      <p:sp>
        <p:nvSpPr>
          <p:cNvPr id="66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for/of хорошо читается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forEach не прерывается через break</a:t>
            </a:r>
          </a:p>
        </p:txBody>
      </p:sp>
      <p:sp>
        <p:nvSpPr>
          <p:cNvPr id="66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6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6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Методы массивов как стиль мышления</a:t>
            </a:r>
          </a:p>
        </p:txBody>
      </p:sp>
      <p:sp>
        <p:nvSpPr>
          <p:cNvPr id="66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map — преобразовать каждый элемент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filter — оставить подходящие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find — найти первый подходящий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reduce — собрать итоговое значение</a:t>
            </a:r>
          </a:p>
        </p:txBody>
      </p:sp>
      <p:sp>
        <p:nvSpPr>
          <p:cNvPr id="66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6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672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map / filter / reduce</a:t>
            </a:r>
          </a:p>
        </p:txBody>
      </p:sp>
      <p:sp>
        <p:nvSpPr>
          <p:cNvPr id="673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prices = [10, 20, 30];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withTax = prices.map(p =&gt; p * 1.2);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big = prices.filter(p =&gt; p &gt;= 20);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total = prices.reduce((s, p) =&gt; s + p, 0);</a:t>
            </a:r>
          </a:p>
        </p:txBody>
      </p:sp>
      <p:sp>
        <p:nvSpPr>
          <p:cNvPr id="675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Функциональный стиль важен в UI-разработке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Данные часто преобразуются перед отображением</a:t>
            </a:r>
          </a:p>
        </p:txBody>
      </p:sp>
      <p:sp>
        <p:nvSpPr>
          <p:cNvPr id="676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77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8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Многомерные массивы</a:t>
            </a:r>
          </a:p>
        </p:txBody>
      </p:sp>
      <p:sp>
        <p:nvSpPr>
          <p:cNvPr id="681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Массивы могут содержать другие массивы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Используются для таблиц и матриц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 веб-интерфейсах чаще применяют массив объектов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Структура данных должна быть удобна для вывода</a:t>
            </a:r>
          </a:p>
        </p:txBody>
      </p:sp>
      <p:sp>
        <p:nvSpPr>
          <p:cNvPr id="682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83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6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687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400">
                <a:solidFill>
                  <a:srgbClr val="F8FAFC"/>
                </a:solidFill>
              </a:defRPr>
            </a:lvl1pPr>
          </a:lstStyle>
          <a:p>
            <a:pPr/>
            <a:r>
              <a:t>Часть VII. Функции</a:t>
            </a:r>
          </a:p>
        </p:txBody>
      </p:sp>
      <p:sp>
        <p:nvSpPr>
          <p:cNvPr id="688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Повторное использование, параметры, стрелки и функциональный стиль</a:t>
            </a:r>
          </a:p>
        </p:txBody>
      </p:sp>
      <p:sp>
        <p:nvSpPr>
          <p:cNvPr id="689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91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69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Функция</a:t>
            </a:r>
          </a:p>
        </p:txBody>
      </p:sp>
      <p:sp>
        <p:nvSpPr>
          <p:cNvPr id="69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Именованный или анонимный блок логики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Принимает параметры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Может возвращать значение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Позволяет убрать дублирование</a:t>
            </a:r>
          </a:p>
        </p:txBody>
      </p:sp>
      <p:sp>
        <p:nvSpPr>
          <p:cNvPr id="69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69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00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Объявление функции</a:t>
            </a:r>
          </a:p>
        </p:txBody>
      </p:sp>
      <p:sp>
        <p:nvSpPr>
          <p:cNvPr id="701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2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function sum(a, b)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return a + b;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result = sum(2, 3);</a:t>
            </a:r>
          </a:p>
        </p:txBody>
      </p:sp>
      <p:sp>
        <p:nvSpPr>
          <p:cNvPr id="703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Объявление функции поднимается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Подходит для основной логики</a:t>
            </a:r>
          </a:p>
        </p:txBody>
      </p:sp>
      <p:sp>
        <p:nvSpPr>
          <p:cNvPr id="704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05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89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0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Функциональное выражение</a:t>
            </a:r>
          </a:p>
        </p:txBody>
      </p:sp>
      <p:sp>
        <p:nvSpPr>
          <p:cNvPr id="70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sum = function(a, b)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return a + b;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};</a:t>
            </a:r>
          </a:p>
        </p:txBody>
      </p:sp>
      <p:sp>
        <p:nvSpPr>
          <p:cNvPr id="71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Функцию можно хранить в переменной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Функции в JS — значения</a:t>
            </a:r>
          </a:p>
        </p:txBody>
      </p:sp>
      <p:sp>
        <p:nvSpPr>
          <p:cNvPr id="71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1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16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Стрелочная функция</a:t>
            </a:r>
          </a:p>
        </p:txBody>
      </p:sp>
      <p:sp>
        <p:nvSpPr>
          <p:cNvPr id="717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8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sum = (a, b) =&gt; a + b;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const square = x =&gt; x * x;</a:t>
            </a:r>
          </a:p>
        </p:txBody>
      </p:sp>
      <p:sp>
        <p:nvSpPr>
          <p:cNvPr id="719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Короткий синтаксис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Часто используется в обработчиках и методах массивов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Имеет особенности this</a:t>
            </a:r>
          </a:p>
        </p:txBody>
      </p:sp>
      <p:sp>
        <p:nvSpPr>
          <p:cNvPr id="720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21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2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Параметры и аргументы</a:t>
            </a:r>
          </a:p>
        </p:txBody>
      </p:sp>
      <p:sp>
        <p:nvSpPr>
          <p:cNvPr id="72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Параметры описываются в определении функции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Аргументы передаются при вызове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Можно задавать значения по умолчанию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Можно собирать остаток аргументов через ...rest</a:t>
            </a:r>
          </a:p>
        </p:txBody>
      </p:sp>
      <p:sp>
        <p:nvSpPr>
          <p:cNvPr id="72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2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30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Параметры по умолчанию и rest</a:t>
            </a:r>
          </a:p>
        </p:txBody>
      </p:sp>
      <p:sp>
        <p:nvSpPr>
          <p:cNvPr id="731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2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function greet(name = "студент")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return `Здравствуйте, ${name}`;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function total(...values)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return values.reduce((s, x) =&gt; s + x, 0);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733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rest собирает аргументы в массив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Полезно для универсальных функций</a:t>
            </a:r>
          </a:p>
        </p:txBody>
      </p:sp>
      <p:sp>
        <p:nvSpPr>
          <p:cNvPr id="734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35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3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Область видимости</a:t>
            </a:r>
          </a:p>
        </p:txBody>
      </p:sp>
      <p:sp>
        <p:nvSpPr>
          <p:cNvPr id="73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Глобальная область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Функциональная область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Блочная область для let/const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Вложенные функции видят внешние переменные</a:t>
            </a:r>
          </a:p>
        </p:txBody>
      </p:sp>
      <p:sp>
        <p:nvSpPr>
          <p:cNvPr id="74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4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44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Вложенная функция и замыкание</a:t>
            </a:r>
          </a:p>
        </p:txBody>
      </p:sp>
      <p:sp>
        <p:nvSpPr>
          <p:cNvPr id="745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6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function makeCounter()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let count = 0;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return function()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count++;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  return count;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};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</p:txBody>
      </p:sp>
      <p:sp>
        <p:nvSpPr>
          <p:cNvPr id="747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Внутренняя функция помнит внешнее окружение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Это называется замыканием</a:t>
            </a:r>
          </a:p>
        </p:txBody>
      </p:sp>
      <p:sp>
        <p:nvSpPr>
          <p:cNvPr id="748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49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5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Функции как аргументы</a:t>
            </a:r>
          </a:p>
        </p:txBody>
      </p:sp>
      <p:sp>
        <p:nvSpPr>
          <p:cNvPr id="75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Функцию можно передать другой функции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Обработчики событий — типичный пример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map/filter/reduce принимают функции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Это основа функционального программирования в JS</a:t>
            </a:r>
          </a:p>
        </p:txBody>
      </p:sp>
      <p:sp>
        <p:nvSpPr>
          <p:cNvPr id="75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5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пример</a:t>
            </a:r>
          </a:p>
        </p:txBody>
      </p:sp>
      <p:sp>
        <p:nvSpPr>
          <p:cNvPr id="758" name="Text 1"/>
          <p:cNvSpPr txBox="1"/>
          <p:nvPr/>
        </p:nvSpPr>
        <p:spPr>
          <a:xfrm>
            <a:off x="685799" y="594359"/>
            <a:ext cx="1069848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2900">
                <a:solidFill>
                  <a:srgbClr val="F8FAFC"/>
                </a:solidFill>
              </a:defRPr>
            </a:lvl1pPr>
          </a:lstStyle>
          <a:p>
            <a:pPr/>
            <a:r>
              <a:t>Callback</a:t>
            </a:r>
          </a:p>
        </p:txBody>
      </p:sp>
      <p:sp>
        <p:nvSpPr>
          <p:cNvPr id="759" name="Shape 2"/>
          <p:cNvSpPr/>
          <p:nvPr/>
        </p:nvSpPr>
        <p:spPr>
          <a:xfrm>
            <a:off x="731519" y="1627632"/>
            <a:ext cx="6812282" cy="4434841"/>
          </a:xfrm>
          <a:prstGeom prst="roundRect">
            <a:avLst>
              <a:gd name="adj" fmla="val 1649"/>
            </a:avLst>
          </a:prstGeom>
          <a:solidFill>
            <a:srgbClr val="050816"/>
          </a:solidFill>
          <a:ln w="12700">
            <a:solidFill>
              <a:srgbClr val="334155">
                <a:alpha val="70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0" name="Text 3"/>
          <p:cNvSpPr txBox="1"/>
          <p:nvPr/>
        </p:nvSpPr>
        <p:spPr>
          <a:xfrm>
            <a:off x="1024127" y="1901951"/>
            <a:ext cx="6263642" cy="3886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function process(value, callback) {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const result = value * 2;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  callback(result);</a:t>
            </a: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}</a:t>
            </a:r>
          </a:p>
          <a:p>
            <a:pPr>
              <a:defRPr sz="1400"/>
            </a:pPr>
          </a:p>
          <a:p>
            <a:pPr>
              <a:defRPr sz="1400">
                <a:solidFill>
                  <a:srgbClr val="E5E7EB"/>
                </a:solidFill>
                <a:latin typeface="Aptos Mono"/>
                <a:ea typeface="Aptos Mono"/>
                <a:cs typeface="Aptos Mono"/>
                <a:sym typeface="Aptos Mono"/>
              </a:defRPr>
            </a:pPr>
            <a:r>
              <a:t>process(5, console.log);</a:t>
            </a:r>
          </a:p>
        </p:txBody>
      </p:sp>
      <p:sp>
        <p:nvSpPr>
          <p:cNvPr id="761" name="Text 4"/>
          <p:cNvSpPr txBox="1"/>
          <p:nvPr/>
        </p:nvSpPr>
        <p:spPr>
          <a:xfrm>
            <a:off x="7909559" y="1874520"/>
            <a:ext cx="3429001" cy="3931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Callback — функция обратного вызова</a:t>
            </a:r>
          </a:p>
          <a:p>
            <a:pPr marL="177800" indent="-177800">
              <a:buSzPct val="100000"/>
              <a:buChar char="•"/>
              <a:defRPr sz="1700">
                <a:solidFill>
                  <a:srgbClr val="E6F1FF"/>
                </a:solidFill>
              </a:defRPr>
            </a:pPr>
            <a:r>
              <a:t>В асинхронном JS эта идея встречается постоянно</a:t>
            </a:r>
          </a:p>
        </p:txBody>
      </p:sp>
      <p:sp>
        <p:nvSpPr>
          <p:cNvPr id="762" name="Text 5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63" name="Text 6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6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Функциональное программирование</a:t>
            </a:r>
          </a:p>
        </p:txBody>
      </p:sp>
      <p:sp>
        <p:nvSpPr>
          <p:cNvPr id="76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Данные преобразуются цепочками операций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Функции стараются делать небольшими и чистыми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Минимизируются побочные эффекты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Так легче тестировать и поддерживать UI-логику</a:t>
            </a:r>
          </a:p>
        </p:txBody>
      </p:sp>
      <p:sp>
        <p:nvSpPr>
          <p:cNvPr id="76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6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7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Когда функция становится плохой</a:t>
            </a:r>
          </a:p>
        </p:txBody>
      </p:sp>
      <p:sp>
        <p:nvSpPr>
          <p:cNvPr id="77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Делает слишком много разных действий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Меняет внешние данные неожиданно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Имеет неочевидное имя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Содержит копию логики из другого места</a:t>
            </a:r>
          </a:p>
        </p:txBody>
      </p:sp>
      <p:sp>
        <p:nvSpPr>
          <p:cNvPr id="77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7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99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Раздел лекции</a:t>
            </a:r>
          </a:p>
        </p:txBody>
      </p:sp>
      <p:pic>
        <p:nvPicPr>
          <p:cNvPr id="77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29400" y="1051560"/>
            <a:ext cx="5166360" cy="2907793"/>
          </a:xfrm>
          <a:prstGeom prst="rect">
            <a:avLst/>
          </a:prstGeom>
          <a:ln w="12700">
            <a:miter lim="400000"/>
          </a:ln>
        </p:spPr>
      </p:pic>
      <p:sp>
        <p:nvSpPr>
          <p:cNvPr id="779" name="Text 1"/>
          <p:cNvSpPr txBox="1"/>
          <p:nvPr/>
        </p:nvSpPr>
        <p:spPr>
          <a:xfrm>
            <a:off x="685799" y="1874520"/>
            <a:ext cx="5760722" cy="822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758951">
              <a:defRPr b="1" sz="2822">
                <a:solidFill>
                  <a:srgbClr val="F8FAFC"/>
                </a:solidFill>
              </a:defRPr>
            </a:lvl1pPr>
          </a:lstStyle>
          <a:p>
            <a:pPr/>
            <a:r>
              <a:t>Часть VIII. Мини-карта практики</a:t>
            </a:r>
          </a:p>
        </p:txBody>
      </p:sp>
      <p:sp>
        <p:nvSpPr>
          <p:cNvPr id="780" name="Text 2"/>
          <p:cNvSpPr txBox="1"/>
          <p:nvPr/>
        </p:nvSpPr>
        <p:spPr>
          <a:xfrm>
            <a:off x="713231" y="2816351"/>
            <a:ext cx="539496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sz="1600">
                <a:solidFill>
                  <a:srgbClr val="E6F1FF"/>
                </a:solidFill>
              </a:defRPr>
            </a:lvl1pPr>
          </a:lstStyle>
          <a:p>
            <a:pPr/>
            <a:r>
              <a:t>Что будем закреплять на задачах</a:t>
            </a:r>
          </a:p>
        </p:txBody>
      </p:sp>
      <p:sp>
        <p:nvSpPr>
          <p:cNvPr id="781" name="Shape 3"/>
          <p:cNvSpPr/>
          <p:nvPr/>
        </p:nvSpPr>
        <p:spPr>
          <a:xfrm>
            <a:off x="713231" y="3767328"/>
            <a:ext cx="3657602" cy="1"/>
          </a:xfrm>
          <a:prstGeom prst="line">
            <a:avLst/>
          </a:prstGeom>
          <a:ln w="38100">
            <a:solidFill>
              <a:srgbClr val="FACC1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2" name="Text 4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83" name="Text 5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Практическая работа</a:t>
            </a:r>
          </a:p>
        </p:txBody>
      </p:sp>
      <p:sp>
        <p:nvSpPr>
          <p:cNvPr id="786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Практика 1: базовый JavaScript</a:t>
            </a:r>
          </a:p>
        </p:txBody>
      </p:sp>
      <p:sp>
        <p:nvSpPr>
          <p:cNvPr id="787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Типы данных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Арифметика и строки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Условия и циклы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Вывод результата и проверка типов</a:t>
            </a:r>
          </a:p>
        </p:txBody>
      </p:sp>
      <p:sp>
        <p:nvSpPr>
          <p:cNvPr id="788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89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Практическая работа</a:t>
            </a:r>
          </a:p>
        </p:txBody>
      </p:sp>
      <p:sp>
        <p:nvSpPr>
          <p:cNvPr id="79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Практика 2: данные и функции</a:t>
            </a:r>
          </a:p>
        </p:txBody>
      </p:sp>
      <p:sp>
        <p:nvSpPr>
          <p:cNvPr id="79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Объекты и массивы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Функции для обработки текста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Подсчет частот и поиск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Функциональные методы массивов</a:t>
            </a:r>
          </a:p>
        </p:txBody>
      </p:sp>
      <p:sp>
        <p:nvSpPr>
          <p:cNvPr id="79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79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79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Типичные ошибки студентов</a:t>
            </a:r>
          </a:p>
        </p:txBody>
      </p:sp>
      <p:sp>
        <p:nvSpPr>
          <p:cNvPr id="79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Путать = и ===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Склеивать строки вместо сложения чисел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Забывать let/const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Изменять исходные массивы без необходимости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Писать всю логику в одном большом блоке</a:t>
            </a:r>
          </a:p>
        </p:txBody>
      </p:sp>
      <p:sp>
        <p:nvSpPr>
          <p:cNvPr id="80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80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основы</a:t>
            </a:r>
          </a:p>
        </p:txBody>
      </p:sp>
      <p:sp>
        <p:nvSpPr>
          <p:cNvPr id="804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Как писать код аккуратнее</a:t>
            </a:r>
          </a:p>
        </p:txBody>
      </p:sp>
      <p:sp>
        <p:nvSpPr>
          <p:cNvPr id="805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Одно действие — одна небольшая функция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Говорящие имена переменных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Строгое сравнение ===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Проверка входных данных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console.log — для диагностики, не для архитектуры</a:t>
            </a:r>
          </a:p>
        </p:txBody>
      </p:sp>
      <p:sp>
        <p:nvSpPr>
          <p:cNvPr id="806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807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JavaScript • схема</a:t>
            </a:r>
          </a:p>
        </p:txBody>
      </p:sp>
      <p:sp>
        <p:nvSpPr>
          <p:cNvPr id="810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000">
                <a:solidFill>
                  <a:srgbClr val="F8FAFC"/>
                </a:solidFill>
              </a:defRPr>
            </a:lvl1pPr>
          </a:lstStyle>
          <a:p>
            <a:pPr/>
            <a:r>
              <a:t>Итоговая карта языка</a:t>
            </a:r>
          </a:p>
        </p:txBody>
      </p:sp>
      <p:sp>
        <p:nvSpPr>
          <p:cNvPr id="811" name="Shape 2"/>
          <p:cNvSpPr/>
          <p:nvPr/>
        </p:nvSpPr>
        <p:spPr>
          <a:xfrm>
            <a:off x="694944" y="2743200"/>
            <a:ext cx="1539240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2" name="Text 3"/>
          <p:cNvSpPr txBox="1"/>
          <p:nvPr/>
        </p:nvSpPr>
        <p:spPr>
          <a:xfrm>
            <a:off x="768095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значения</a:t>
            </a:r>
          </a:p>
        </p:txBody>
      </p:sp>
      <p:sp>
        <p:nvSpPr>
          <p:cNvPr id="813" name="Shape 4"/>
          <p:cNvSpPr/>
          <p:nvPr/>
        </p:nvSpPr>
        <p:spPr>
          <a:xfrm>
            <a:off x="2270760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14" name="Shape 5"/>
          <p:cNvSpPr/>
          <p:nvPr/>
        </p:nvSpPr>
        <p:spPr>
          <a:xfrm>
            <a:off x="2545079" y="2743200"/>
            <a:ext cx="1539241" cy="822961"/>
          </a:xfrm>
          <a:prstGeom prst="roundRect">
            <a:avLst>
              <a:gd name="adj" fmla="val 8889"/>
            </a:avLst>
          </a:prstGeom>
          <a:solidFill>
            <a:srgbClr val="111936"/>
          </a:solidFill>
          <a:ln w="12700">
            <a:solidFill>
              <a:srgbClr val="22D3EE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5" name="Text 6"/>
          <p:cNvSpPr txBox="1"/>
          <p:nvPr/>
        </p:nvSpPr>
        <p:spPr>
          <a:xfrm>
            <a:off x="2618232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переменные</a:t>
            </a:r>
          </a:p>
        </p:txBody>
      </p:sp>
      <p:sp>
        <p:nvSpPr>
          <p:cNvPr id="816" name="Shape 7"/>
          <p:cNvSpPr/>
          <p:nvPr/>
        </p:nvSpPr>
        <p:spPr>
          <a:xfrm>
            <a:off x="4120896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17" name="Shape 8"/>
          <p:cNvSpPr/>
          <p:nvPr/>
        </p:nvSpPr>
        <p:spPr>
          <a:xfrm>
            <a:off x="4395215" y="2743200"/>
            <a:ext cx="1539241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8" name="Text 9"/>
          <p:cNvSpPr txBox="1"/>
          <p:nvPr/>
        </p:nvSpPr>
        <p:spPr>
          <a:xfrm>
            <a:off x="4468367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выражения</a:t>
            </a:r>
          </a:p>
        </p:txBody>
      </p:sp>
      <p:sp>
        <p:nvSpPr>
          <p:cNvPr id="819" name="Shape 10"/>
          <p:cNvSpPr/>
          <p:nvPr/>
        </p:nvSpPr>
        <p:spPr>
          <a:xfrm>
            <a:off x="5971032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20" name="Shape 11"/>
          <p:cNvSpPr/>
          <p:nvPr/>
        </p:nvSpPr>
        <p:spPr>
          <a:xfrm>
            <a:off x="6245352" y="2743200"/>
            <a:ext cx="1539241" cy="822961"/>
          </a:xfrm>
          <a:prstGeom prst="roundRect">
            <a:avLst>
              <a:gd name="adj" fmla="val 8889"/>
            </a:avLst>
          </a:prstGeom>
          <a:solidFill>
            <a:srgbClr val="111936"/>
          </a:solidFill>
          <a:ln w="12700">
            <a:solidFill>
              <a:srgbClr val="22D3EE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1" name="Text 12"/>
          <p:cNvSpPr txBox="1"/>
          <p:nvPr/>
        </p:nvSpPr>
        <p:spPr>
          <a:xfrm>
            <a:off x="6318503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операторы</a:t>
            </a:r>
          </a:p>
        </p:txBody>
      </p:sp>
      <p:sp>
        <p:nvSpPr>
          <p:cNvPr id="822" name="Shape 13"/>
          <p:cNvSpPr/>
          <p:nvPr/>
        </p:nvSpPr>
        <p:spPr>
          <a:xfrm>
            <a:off x="7821168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23" name="Shape 14"/>
          <p:cNvSpPr/>
          <p:nvPr/>
        </p:nvSpPr>
        <p:spPr>
          <a:xfrm>
            <a:off x="8095488" y="2743200"/>
            <a:ext cx="1539240" cy="822961"/>
          </a:xfrm>
          <a:prstGeom prst="roundRect">
            <a:avLst>
              <a:gd name="adj" fmla="val 8889"/>
            </a:avLst>
          </a:prstGeom>
          <a:solidFill>
            <a:srgbClr val="182554"/>
          </a:solidFill>
          <a:ln w="12700">
            <a:solidFill>
              <a:srgbClr val="FACC15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4" name="Text 15"/>
          <p:cNvSpPr txBox="1"/>
          <p:nvPr/>
        </p:nvSpPr>
        <p:spPr>
          <a:xfrm>
            <a:off x="8168640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 defTabSz="758951">
              <a:defRPr b="1" sz="1162">
                <a:solidFill>
                  <a:srgbClr val="F8FAFC"/>
                </a:solidFill>
              </a:defRPr>
            </a:lvl1pPr>
          </a:lstStyle>
          <a:p>
            <a:pPr/>
            <a:r>
              <a:t>структуры данных</a:t>
            </a:r>
          </a:p>
        </p:txBody>
      </p:sp>
      <p:sp>
        <p:nvSpPr>
          <p:cNvPr id="825" name="Shape 16"/>
          <p:cNvSpPr/>
          <p:nvPr/>
        </p:nvSpPr>
        <p:spPr>
          <a:xfrm>
            <a:off x="9671304" y="3154679"/>
            <a:ext cx="237744" cy="1"/>
          </a:xfrm>
          <a:prstGeom prst="line">
            <a:avLst/>
          </a:prstGeom>
          <a:ln w="25400">
            <a:solidFill>
              <a:srgbClr val="22D3EE"/>
            </a:solidFill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826" name="Shape 17"/>
          <p:cNvSpPr/>
          <p:nvPr/>
        </p:nvSpPr>
        <p:spPr>
          <a:xfrm>
            <a:off x="9945623" y="2743200"/>
            <a:ext cx="1539241" cy="822961"/>
          </a:xfrm>
          <a:prstGeom prst="roundRect">
            <a:avLst>
              <a:gd name="adj" fmla="val 8889"/>
            </a:avLst>
          </a:prstGeom>
          <a:solidFill>
            <a:srgbClr val="111936"/>
          </a:solidFill>
          <a:ln w="12700">
            <a:solidFill>
              <a:srgbClr val="22D3EE">
                <a:alpha val="85000"/>
              </a:srgb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7" name="Text 18"/>
          <p:cNvSpPr txBox="1"/>
          <p:nvPr/>
        </p:nvSpPr>
        <p:spPr>
          <a:xfrm>
            <a:off x="10018776" y="2944367"/>
            <a:ext cx="1392937" cy="310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algn="ctr">
              <a:defRPr b="1" sz="1400">
                <a:solidFill>
                  <a:srgbClr val="F8FAFC"/>
                </a:solidFill>
              </a:defRPr>
            </a:lvl1pPr>
          </a:lstStyle>
          <a:p>
            <a:pPr/>
            <a:r>
              <a:t>функции</a:t>
            </a:r>
          </a:p>
        </p:txBody>
      </p:sp>
      <p:sp>
        <p:nvSpPr>
          <p:cNvPr id="828" name="Text 19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829" name="Text 20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Итог лекции</a:t>
            </a:r>
          </a:p>
        </p:txBody>
      </p:sp>
      <p:sp>
        <p:nvSpPr>
          <p:cNvPr id="832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Главные выводы</a:t>
            </a:r>
          </a:p>
        </p:txBody>
      </p:sp>
      <p:sp>
        <p:nvSpPr>
          <p:cNvPr id="833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JavaScript управляет поведением веб-интерфейса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Типы и преобразования требуют внимания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Объекты, массивы и функции — основа практического JS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Дальше: классы, модули, async и JavaScript в браузере</a:t>
            </a:r>
          </a:p>
        </p:txBody>
      </p:sp>
      <p:sp>
        <p:nvSpPr>
          <p:cNvPr id="834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835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B10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Text 0"/>
          <p:cNvSpPr txBox="1"/>
          <p:nvPr/>
        </p:nvSpPr>
        <p:spPr>
          <a:xfrm>
            <a:off x="594359" y="256031"/>
            <a:ext cx="685800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800">
                <a:solidFill>
                  <a:srgbClr val="FACC15"/>
                </a:solidFill>
              </a:defRPr>
            </a:lvl1pPr>
          </a:lstStyle>
          <a:p>
            <a:pPr/>
            <a:r>
              <a:t>Источники</a:t>
            </a:r>
          </a:p>
        </p:txBody>
      </p:sp>
      <p:sp>
        <p:nvSpPr>
          <p:cNvPr id="838" name="Text 1"/>
          <p:cNvSpPr txBox="1"/>
          <p:nvPr/>
        </p:nvSpPr>
        <p:spPr>
          <a:xfrm>
            <a:off x="685799" y="713231"/>
            <a:ext cx="10607042" cy="68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>
              <a:defRPr b="1" sz="3100">
                <a:solidFill>
                  <a:srgbClr val="F8FAFC"/>
                </a:solidFill>
              </a:defRPr>
            </a:lvl1pPr>
          </a:lstStyle>
          <a:p>
            <a:pPr/>
            <a:r>
              <a:t>Что читать и где проверять</a:t>
            </a:r>
          </a:p>
        </p:txBody>
      </p:sp>
      <p:sp>
        <p:nvSpPr>
          <p:cNvPr id="839" name="Text 2"/>
          <p:cNvSpPr txBox="1"/>
          <p:nvPr/>
        </p:nvSpPr>
        <p:spPr>
          <a:xfrm>
            <a:off x="822960" y="1828799"/>
            <a:ext cx="10058401" cy="4206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35" tIns="635" rIns="635" bIns="635" anchor="ctr">
            <a:normAutofit fontScale="100000" lnSpcReduction="0"/>
          </a:bodyPr>
          <a:lstStyle/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MDN Web Docs: справочник по JavaScript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JavaScript.info: учебное объяснение с примерами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DevDocs: быстрый справочник</a:t>
            </a:r>
          </a:p>
          <a:p>
            <a:pPr marL="177800" indent="-177800">
              <a:buSzPct val="100000"/>
              <a:buChar char="•"/>
              <a:defRPr sz="1900">
                <a:solidFill>
                  <a:srgbClr val="E6F1FF"/>
                </a:solidFill>
              </a:defRPr>
            </a:pPr>
            <a:r>
              <a:t>Документация нужна постоянно, а не только перед экзаменом</a:t>
            </a:r>
          </a:p>
        </p:txBody>
      </p:sp>
      <p:sp>
        <p:nvSpPr>
          <p:cNvPr id="840" name="Text 3"/>
          <p:cNvSpPr txBox="1"/>
          <p:nvPr/>
        </p:nvSpPr>
        <p:spPr>
          <a:xfrm>
            <a:off x="502919" y="6465316"/>
            <a:ext cx="7772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Разработка пользовательских интерфейсов • JavaScript</a:t>
            </a:r>
          </a:p>
        </p:txBody>
      </p:sp>
      <p:sp>
        <p:nvSpPr>
          <p:cNvPr id="841" name="Text 4"/>
          <p:cNvSpPr txBox="1"/>
          <p:nvPr/>
        </p:nvSpPr>
        <p:spPr>
          <a:xfrm>
            <a:off x="11292840" y="6465316"/>
            <a:ext cx="4114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600">
                <a:solidFill>
                  <a:srgbClr val="8EA0B8"/>
                </a:solidFill>
              </a:defRPr>
            </a:lvl1pPr>
          </a:lstStyle>
          <a:p>
            <a:pPr/>
            <a:r>
              <a:t>107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